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5"/>
  </p:notesMasterIdLst>
  <p:sldIdLst>
    <p:sldId id="263" r:id="rId2"/>
    <p:sldId id="258" r:id="rId3"/>
    <p:sldId id="276" r:id="rId4"/>
    <p:sldId id="279" r:id="rId5"/>
    <p:sldId id="261" r:id="rId6"/>
    <p:sldId id="278" r:id="rId7"/>
    <p:sldId id="264" r:id="rId8"/>
    <p:sldId id="271" r:id="rId9"/>
    <p:sldId id="266" r:id="rId10"/>
    <p:sldId id="267" r:id="rId11"/>
    <p:sldId id="268" r:id="rId12"/>
    <p:sldId id="272" r:id="rId13"/>
    <p:sldId id="270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911125-3128-A64D-9DD1-205B7ADB3F53}" v="131" dt="2026-05-18T14:10:52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20"/>
    <p:restoredTop sz="94668"/>
  </p:normalViewPr>
  <p:slideViewPr>
    <p:cSldViewPr snapToGrid="0">
      <p:cViewPr>
        <p:scale>
          <a:sx n="103" d="100"/>
          <a:sy n="103" d="100"/>
        </p:scale>
        <p:origin x="-328" y="51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10D1C-C3D8-1E46-97BB-691064ADB1D0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C2028-92A5-CA4B-9B78-77A670FFD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2811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C2028-92A5-CA4B-9B78-77A670FFD10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99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2062D-FC93-5290-05BB-02BEDD9E8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3763072-3477-4EE0-5713-1ADC98347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791E42-79BC-C762-EE6C-460FA4826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94C-0A5E-F242-908D-9162F2A5D16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6CD719-2B99-105C-2749-E670C087D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0F709F-E6EB-624E-9125-8A06A9CED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FF2D7-BEAF-484C-BD3F-5B7E7D31C2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585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80DB57-1172-CC18-C6CE-811F149A8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6134B0-6D6A-5E6E-2D77-3F36E304C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60A889-0E2F-0C60-F908-27FD9ACF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94C-0A5E-F242-908D-9162F2A5D16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106C1E-D7A7-D5A1-EDB8-1590D4C16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E41F8D-44D1-C01A-D7A8-634C2F8D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FF2D7-BEAF-484C-BD3F-5B7E7D31C2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75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748DC-41B2-3DEB-2CB8-C2A5228E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75A0F5-A426-77B0-B5B3-725CF466B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DDE719-C0C5-158F-9DC4-5F7A1C91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94C-0A5E-F242-908D-9162F2A5D16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01805C-687E-3F1B-EC71-7B99349A0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4BE3C6-2D54-1363-2A9C-414DD0B4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FF2D7-BEAF-484C-BD3F-5B7E7D31C2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654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65F526-005B-1FF8-493D-BEC538FE9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AEBFB1-90B0-21D0-7522-E1391BC22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CF60F4-C218-1825-9DEB-E0214ED4E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3918F32-75EC-4C8F-59CB-69A270F51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94C-0A5E-F242-908D-9162F2A5D16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C18352-64B8-8CF9-7E2F-D98FCF752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31080D-A595-3E21-F43B-354E1347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FF2D7-BEAF-484C-BD3F-5B7E7D31C2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929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9E2AEB-4ED1-EDBE-146D-C8556634D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89641B-16DB-8683-3170-9435FC650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712D33-CD03-1231-4371-0D1DBBE88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2B0432F-558B-9A6C-24CB-D073F3CD0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50ECFE9-5AB0-F830-C952-D6703C07AE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D104605-0C5F-6735-55FB-7590ECC75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94C-0A5E-F242-908D-9162F2A5D16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6E977AB-9748-228E-0CB1-0399985B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6971DB7-F4C7-8815-951E-C9272E09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FF2D7-BEAF-484C-BD3F-5B7E7D31C2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2857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B680A-63D8-FA3D-7565-4622AC73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1BB8C51-04BB-5E9A-7B3F-7CD3DF088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94C-0A5E-F242-908D-9162F2A5D16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3C0619E-F609-5C7B-1EDF-68BAABE2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C8CD1FD-C462-23EE-F562-2BB07D3E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FF2D7-BEAF-484C-BD3F-5B7E7D31C2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719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0815ECE-E6EF-53B1-3CD6-F57CF3BA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94C-0A5E-F242-908D-9162F2A5D16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75C0D7A-FC8D-30C9-AFFA-6ADDD803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3B857B-59D8-20B5-A4B1-7D7CB772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FF2D7-BEAF-484C-BD3F-5B7E7D31C2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66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9EB687-F0C4-D1EF-1842-758D8F1F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1F2ABD-060D-E129-4946-C959F7B62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D0B62B8-51FA-9C6E-0919-D17091319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4364A-1F2C-F868-C36F-66D3A7BA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94C-0A5E-F242-908D-9162F2A5D16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817F96D-8AA5-E603-168A-8A4824CF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D6C8A9-7DA3-C623-B8C0-921DC551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FF2D7-BEAF-484C-BD3F-5B7E7D31C2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3184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327512-FC8E-C96F-E679-99E7D228A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B73311C-BF97-15A6-001E-92DFF7D07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1CFDD0-CCA8-341E-76FB-E07118510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FC7511-C898-1D26-F299-0BE2CB53C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94C-0A5E-F242-908D-9162F2A5D16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6C8024-C8D3-0A74-820E-6C65DC25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FFA241-AE38-6819-10A5-8111318BA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FF2D7-BEAF-484C-BD3F-5B7E7D31C2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545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7FF43A-1D65-108F-8C7D-FD9B2C910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E0428BD-6D80-A2B2-B50E-D54A91C93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E8300E-B871-354C-A5BC-4DC1FE09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94C-0A5E-F242-908D-9162F2A5D16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3D8D6C-69C6-9300-F479-5467370D9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8A07E0-DA56-4FA0-5A43-1815CE2F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FF2D7-BEAF-484C-BD3F-5B7E7D31C2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163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60EA656-CCD4-854B-4F05-C02BBCC02C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1915EC-D1FE-7C32-2245-3CBC91D3C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46D67A-9ED1-E1BD-7ED4-DFDCE33E7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94C-0A5E-F242-908D-9162F2A5D16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F66FA9-B6DF-8172-3CD1-F898CB7E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3A9697-78BB-CD68-B8B8-0032A43CA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FF2D7-BEAF-484C-BD3F-5B7E7D31C2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054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9B9742F-1969-9E32-E620-F2E01D2F6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D95A83-FE9E-E569-12BF-264E8E42D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FA0695-1834-602B-ACED-4FB74A7C2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DB94C-0A5E-F242-908D-9162F2A5D16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C7FC25-CCFF-84E0-A7E6-7CCEE4777E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E44EAE-C6AA-A803-8A91-C2D82AD0F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1FF2D7-BEAF-484C-BD3F-5B7E7D31C20B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AccentBar"/>
          <p:cNvSpPr/>
          <p:nvPr userDrawn="1"/>
        </p:nvSpPr>
        <p:spPr>
          <a:xfrm>
            <a:off x="0" y="6750000"/>
            <a:ext cx="12192000" cy="3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25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F8B0C8-BA5E-5645-8C57-A7B5B3DB075A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E1BFB3-0B26-7642-AC6A-F40382F9CB9B}"/>
              </a:ext>
            </a:extLst>
          </p:cNvPr>
          <p:cNvSpPr/>
          <p:nvPr/>
        </p:nvSpPr>
        <p:spPr>
          <a:xfrm>
            <a:off x="762000" y="1016000"/>
            <a:ext cx="762000" cy="508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3569299-C5D8-8948-97BD-994F36A2C418}"/>
              </a:ext>
            </a:extLst>
          </p:cNvPr>
          <p:cNvSpPr txBox="1"/>
          <p:nvPr/>
        </p:nvSpPr>
        <p:spPr>
          <a:xfrm>
            <a:off x="762000" y="12065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 dirty="0">
                <a:solidFill>
                  <a:srgbClr val="B91C1C"/>
                </a:solidFill>
              </a:rPr>
              <a:t>M1 — Apprentissage 2025-2026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A4C6125-0D59-8045-B993-2C4030072B58}"/>
              </a:ext>
            </a:extLst>
          </p:cNvPr>
          <p:cNvSpPr txBox="1"/>
          <p:nvPr/>
        </p:nvSpPr>
        <p:spPr>
          <a:xfrm>
            <a:off x="762000" y="1587500"/>
            <a:ext cx="1066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400" b="1" dirty="0">
                <a:solidFill>
                  <a:srgbClr val="1F3A5F"/>
                </a:solidFill>
              </a:rPr>
              <a:t>Rapport d'activités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F3CF39A-100D-F642-B52A-03B1EB72E5B9}"/>
              </a:ext>
            </a:extLst>
          </p:cNvPr>
          <p:cNvSpPr txBox="1"/>
          <p:nvPr/>
        </p:nvSpPr>
        <p:spPr>
          <a:xfrm>
            <a:off x="762000" y="2413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i="1" dirty="0">
                <a:solidFill>
                  <a:srgbClr val="374151"/>
                </a:solidFill>
              </a:rPr>
              <a:t>Apprenti Chef de projet &amp; Développeur logiciel chez SFR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C7357A-7081-4A4E-AA5B-615D50BA8B43}"/>
              </a:ext>
            </a:extLst>
          </p:cNvPr>
          <p:cNvSpPr/>
          <p:nvPr/>
        </p:nvSpPr>
        <p:spPr>
          <a:xfrm>
            <a:off x="762000" y="34290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2AB14D6-48E7-154D-AC48-7F19009CADED}"/>
              </a:ext>
            </a:extLst>
          </p:cNvPr>
          <p:cNvSpPr txBox="1"/>
          <p:nvPr/>
        </p:nvSpPr>
        <p:spPr>
          <a:xfrm>
            <a:off x="762000" y="3619500"/>
            <a:ext cx="3590544" cy="14414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fr-FR" sz="1400" b="1" dirty="0">
                <a:solidFill>
                  <a:srgbClr val="1F2937"/>
                </a:solidFill>
              </a:rPr>
              <a:t>Souleimane EL QODSI</a:t>
            </a:r>
            <a:br>
              <a:rPr lang="fr-FR" sz="1400" b="1" dirty="0">
                <a:solidFill>
                  <a:srgbClr val="1F2937"/>
                </a:solidFill>
              </a:rPr>
            </a:br>
            <a:r>
              <a:rPr lang="fr-FR" sz="1400" dirty="0">
                <a:solidFill>
                  <a:srgbClr val="1F2937"/>
                </a:solidFill>
              </a:rPr>
              <a:t>
</a:t>
            </a:r>
            <a:r>
              <a:rPr lang="fr-FR" sz="1400" i="1" dirty="0">
                <a:solidFill>
                  <a:srgbClr val="1F2937"/>
                </a:solidFill>
              </a:rPr>
              <a:t>Master 1 </a:t>
            </a:r>
            <a:r>
              <a:rPr lang="fr-FR" sz="1400" b="1" dirty="0">
                <a:solidFill>
                  <a:srgbClr val="1F2937"/>
                </a:solidFill>
              </a:rPr>
              <a:t>MIAGE</a:t>
            </a:r>
            <a:r>
              <a:rPr lang="fr-FR" sz="1400" dirty="0">
                <a:solidFill>
                  <a:srgbClr val="1F2937"/>
                </a:solidFill>
              </a:rPr>
              <a:t> — </a:t>
            </a:r>
            <a:r>
              <a:rPr lang="fr-FR" sz="1400" i="1" dirty="0">
                <a:solidFill>
                  <a:srgbClr val="1F2937"/>
                </a:solidFill>
              </a:rPr>
              <a:t>Informatique Décisionnelle</a:t>
            </a:r>
            <a:br>
              <a:rPr lang="fr-FR" sz="1400" i="1" dirty="0">
                <a:solidFill>
                  <a:srgbClr val="1F2937"/>
                </a:solidFill>
              </a:rPr>
            </a:br>
            <a:r>
              <a:rPr lang="fr-FR" sz="1400" dirty="0">
                <a:solidFill>
                  <a:srgbClr val="1F2937"/>
                </a:solidFill>
              </a:rPr>
              <a:t>
</a:t>
            </a:r>
            <a:r>
              <a:rPr lang="fr-FR" sz="1400" b="1" dirty="0">
                <a:solidFill>
                  <a:srgbClr val="1F2937"/>
                </a:solidFill>
              </a:rPr>
              <a:t>Université Paris-Saclay</a:t>
            </a:r>
            <a:br>
              <a:rPr lang="fr-FR" sz="1400" dirty="0">
                <a:solidFill>
                  <a:srgbClr val="1F2937"/>
                </a:solidFill>
              </a:rPr>
            </a:b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CFA </a:t>
            </a:r>
            <a:r>
              <a:rPr lang="fr-FR" sz="1400" b="1" dirty="0" err="1">
                <a:solidFill>
                  <a:schemeClr val="bg2">
                    <a:lumMod val="10000"/>
                  </a:schemeClr>
                </a:solidFill>
              </a:rPr>
              <a:t>NumiA</a:t>
            </a:r>
            <a:endParaRPr lang="fr-FR" sz="1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41CC19D-DF99-2243-A426-9CF6C3021657}"/>
              </a:ext>
            </a:extLst>
          </p:cNvPr>
          <p:cNvSpPr txBox="1"/>
          <p:nvPr/>
        </p:nvSpPr>
        <p:spPr>
          <a:xfrm>
            <a:off x="4670552" y="3619500"/>
            <a:ext cx="322072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u="sng" dirty="0">
                <a:solidFill>
                  <a:srgbClr val="1F2937"/>
                </a:solidFill>
              </a:rPr>
              <a:t>Entreprise d'accueil</a:t>
            </a:r>
            <a:r>
              <a:rPr lang="fr-FR" sz="1400" dirty="0">
                <a:solidFill>
                  <a:srgbClr val="1F2937"/>
                </a:solidFill>
              </a:rPr>
              <a:t> : </a:t>
            </a:r>
            <a:r>
              <a:rPr lang="fr-FR" sz="1400" b="1" dirty="0">
                <a:solidFill>
                  <a:srgbClr val="1F2937"/>
                </a:solidFill>
              </a:rPr>
              <a:t>SFR</a:t>
            </a:r>
            <a:r>
              <a:rPr lang="fr-FR" sz="1400" dirty="0">
                <a:solidFill>
                  <a:srgbClr val="1F2937"/>
                </a:solidFill>
              </a:rPr>
              <a:t>
</a:t>
            </a:r>
            <a:r>
              <a:rPr lang="fr-FR" sz="1400" u="sng" dirty="0">
                <a:solidFill>
                  <a:srgbClr val="1F2937"/>
                </a:solidFill>
              </a:rPr>
              <a:t>Direction</a:t>
            </a:r>
            <a:r>
              <a:rPr lang="fr-FR" sz="1400" dirty="0">
                <a:solidFill>
                  <a:srgbClr val="1F2937"/>
                </a:solidFill>
              </a:rPr>
              <a:t> : </a:t>
            </a:r>
            <a:r>
              <a:rPr lang="fr-FR" sz="1400" b="1" dirty="0">
                <a:solidFill>
                  <a:srgbClr val="1F2937"/>
                </a:solidFill>
              </a:rPr>
              <a:t>SI OSS Mobile &amp; Provisioning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C4421C-9CF9-DF4D-894E-B23581A8B7C4}"/>
              </a:ext>
            </a:extLst>
          </p:cNvPr>
          <p:cNvSpPr/>
          <p:nvPr/>
        </p:nvSpPr>
        <p:spPr>
          <a:xfrm>
            <a:off x="762000" y="5588000"/>
            <a:ext cx="1066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46C59067-77E0-056C-4985-365B317AF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25" y="5673645"/>
            <a:ext cx="1992535" cy="923925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EAF87018-C1E3-BD28-84E8-AA545402F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260" y="5963303"/>
            <a:ext cx="1433114" cy="345441"/>
          </a:xfrm>
          <a:prstGeom prst="rect">
            <a:avLst/>
          </a:prstGeom>
        </p:spPr>
      </p:pic>
      <p:pic>
        <p:nvPicPr>
          <p:cNvPr id="1026" name="Picture 2" descr="CFA numiA - Walt Community">
            <a:extLst>
              <a:ext uri="{FF2B5EF4-FFF2-40B4-BE49-F238E27FC236}">
                <a16:creationId xmlns:a16="http://schemas.microsoft.com/office/drawing/2014/main" id="{16BC9E29-BF4F-EF41-D770-4324A79D2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584" y="5832090"/>
            <a:ext cx="1443546" cy="607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7E051886-4CCD-3F62-712C-AAB683200F3D}"/>
              </a:ext>
            </a:extLst>
          </p:cNvPr>
          <p:cNvSpPr txBox="1"/>
          <p:nvPr/>
        </p:nvSpPr>
        <p:spPr>
          <a:xfrm>
            <a:off x="8209280" y="3595405"/>
            <a:ext cx="322072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fr-FR" sz="1400" u="sng" dirty="0">
                <a:solidFill>
                  <a:schemeClr val="bg2">
                    <a:lumMod val="10000"/>
                  </a:schemeClr>
                </a:solidFill>
              </a:rPr>
              <a:t>Tutrice alternance</a:t>
            </a:r>
            <a:r>
              <a:rPr lang="fr-FR" sz="1400" dirty="0">
                <a:solidFill>
                  <a:schemeClr val="bg2">
                    <a:lumMod val="10000"/>
                  </a:schemeClr>
                </a:solidFill>
              </a:rPr>
              <a:t> : </a:t>
            </a: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Safia BOUKHEDDIMI</a:t>
            </a:r>
          </a:p>
          <a:p>
            <a:r>
              <a:rPr lang="fr-FR" sz="1400" u="sng" dirty="0">
                <a:solidFill>
                  <a:schemeClr val="bg2">
                    <a:lumMod val="10000"/>
                  </a:schemeClr>
                </a:solidFill>
              </a:rPr>
              <a:t>Manager d’équipe</a:t>
            </a:r>
            <a:r>
              <a:rPr lang="fr-FR" sz="1400" dirty="0">
                <a:solidFill>
                  <a:schemeClr val="bg2">
                    <a:lumMod val="10000"/>
                  </a:schemeClr>
                </a:solidFill>
              </a:rPr>
              <a:t> : </a:t>
            </a: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Benoit MOISAN</a:t>
            </a:r>
            <a:br>
              <a:rPr lang="fr-FR" sz="1400" b="1" dirty="0">
                <a:solidFill>
                  <a:schemeClr val="bg2">
                    <a:lumMod val="10000"/>
                  </a:schemeClr>
                </a:solidFill>
              </a:rPr>
            </a:br>
            <a:endParaRPr lang="fr-FR" sz="1400" b="1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fr-FR" sz="1400" u="sng" dirty="0">
                <a:solidFill>
                  <a:schemeClr val="bg2">
                    <a:lumMod val="10000"/>
                  </a:schemeClr>
                </a:solidFill>
              </a:rPr>
              <a:t>Tuteur enseignant</a:t>
            </a:r>
            <a:r>
              <a:rPr lang="fr-FR" sz="1400" dirty="0">
                <a:solidFill>
                  <a:schemeClr val="bg2">
                    <a:lumMod val="10000"/>
                  </a:schemeClr>
                </a:solidFill>
              </a:rPr>
              <a:t> : </a:t>
            </a: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Mondher FEKI</a:t>
            </a:r>
          </a:p>
          <a:p>
            <a:r>
              <a:rPr lang="fr-FR" sz="1400" u="sng" dirty="0">
                <a:solidFill>
                  <a:schemeClr val="bg2">
                    <a:lumMod val="10000"/>
                  </a:schemeClr>
                </a:solidFill>
              </a:rPr>
              <a:t>Référente CFA</a:t>
            </a:r>
            <a:r>
              <a:rPr lang="fr-FR" sz="1400" dirty="0">
                <a:solidFill>
                  <a:schemeClr val="bg2">
                    <a:lumMod val="10000"/>
                  </a:schemeClr>
                </a:solidFill>
              </a:rPr>
              <a:t> : </a:t>
            </a: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Isabelle ARNOUX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0A6DB56-0962-7840-3172-CE6C34285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280" y="5796673"/>
            <a:ext cx="677710" cy="67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06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D2ADAC5-84C6-344C-9B44-C9CD95DCE20D}"/>
              </a:ext>
            </a:extLst>
          </p:cNvPr>
          <p:cNvSpPr/>
          <p:nvPr/>
        </p:nvSpPr>
        <p:spPr>
          <a:xfrm>
            <a:off x="762000" y="355600"/>
            <a:ext cx="63500" cy="406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D459AF8-4FBB-0A48-9A3C-4F11EC2273BF}"/>
              </a:ext>
            </a:extLst>
          </p:cNvPr>
          <p:cNvSpPr txBox="1"/>
          <p:nvPr/>
        </p:nvSpPr>
        <p:spPr>
          <a:xfrm>
            <a:off x="9525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 b="1">
                <a:solidFill>
                  <a:srgbClr val="1F3A5F"/>
                </a:solidFill>
              </a:rPr>
              <a:t>Sommaire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E157357-5B22-A440-B9E2-8D4AD639915F}"/>
              </a:ext>
            </a:extLst>
          </p:cNvPr>
          <p:cNvSpPr txBox="1"/>
          <p:nvPr/>
        </p:nvSpPr>
        <p:spPr>
          <a:xfrm>
            <a:off x="10795000" y="381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dirty="0">
                <a:solidFill>
                  <a:srgbClr val="9CA3AF"/>
                </a:solidFill>
              </a:rPr>
              <a:t>2 / 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EC24D2-5D08-9C4C-BAFF-5CB64B1E9842}"/>
              </a:ext>
            </a:extLst>
          </p:cNvPr>
          <p:cNvSpPr/>
          <p:nvPr/>
        </p:nvSpPr>
        <p:spPr>
          <a:xfrm>
            <a:off x="762000" y="889000"/>
            <a:ext cx="10668000" cy="127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43A900F0-106B-1547-A696-0FB001A0449D}"/>
              </a:ext>
            </a:extLst>
          </p:cNvPr>
          <p:cNvSpPr/>
          <p:nvPr/>
        </p:nvSpPr>
        <p:spPr>
          <a:xfrm>
            <a:off x="1016000" y="1270000"/>
            <a:ext cx="635000" cy="6350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2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6021292-E71E-7147-992B-DFE0E4B2072F}"/>
              </a:ext>
            </a:extLst>
          </p:cNvPr>
          <p:cNvSpPr txBox="1"/>
          <p:nvPr/>
        </p:nvSpPr>
        <p:spPr>
          <a:xfrm>
            <a:off x="1905000" y="1295400"/>
            <a:ext cx="939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900" b="1" dirty="0">
                <a:solidFill>
                  <a:srgbClr val="1F2937"/>
                </a:solidFill>
              </a:rPr>
              <a:t>Contexte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1386726-28DC-8F4D-A141-8C659467A995}"/>
              </a:ext>
            </a:extLst>
          </p:cNvPr>
          <p:cNvSpPr txBox="1"/>
          <p:nvPr/>
        </p:nvSpPr>
        <p:spPr>
          <a:xfrm>
            <a:off x="1905000" y="1651000"/>
            <a:ext cx="939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dirty="0">
                <a:solidFill>
                  <a:srgbClr val="6B7280"/>
                </a:solidFill>
              </a:rPr>
              <a:t>L'entreprise et le service d'accueil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8414C61A-BA15-154E-9636-6697F6DB6F18}"/>
              </a:ext>
            </a:extLst>
          </p:cNvPr>
          <p:cNvSpPr/>
          <p:nvPr/>
        </p:nvSpPr>
        <p:spPr>
          <a:xfrm>
            <a:off x="1016000" y="2260600"/>
            <a:ext cx="635000" cy="6350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B547688-867D-8248-8200-5E37CF0CBE4C}"/>
              </a:ext>
            </a:extLst>
          </p:cNvPr>
          <p:cNvSpPr txBox="1"/>
          <p:nvPr/>
        </p:nvSpPr>
        <p:spPr>
          <a:xfrm>
            <a:off x="1905000" y="2286000"/>
            <a:ext cx="939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900" b="1">
                <a:solidFill>
                  <a:srgbClr val="1F2937"/>
                </a:solidFill>
              </a:rPr>
              <a:t>Mission &amp; projet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0F008B6-4AA3-534E-A007-E43EBB7943CF}"/>
              </a:ext>
            </a:extLst>
          </p:cNvPr>
          <p:cNvSpPr txBox="1"/>
          <p:nvPr/>
        </p:nvSpPr>
        <p:spPr>
          <a:xfrm>
            <a:off x="1905000" y="2641600"/>
            <a:ext cx="939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6B7280"/>
                </a:solidFill>
              </a:rPr>
              <a:t>Le désengagement MQ vers Kafka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1FFF269D-DF7E-214C-9B68-CC8A8C6FCF67}"/>
              </a:ext>
            </a:extLst>
          </p:cNvPr>
          <p:cNvSpPr/>
          <p:nvPr/>
        </p:nvSpPr>
        <p:spPr>
          <a:xfrm>
            <a:off x="1016000" y="3251200"/>
            <a:ext cx="635000" cy="6350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B674BF57-F3BD-904D-95FF-E5B9894875BA}"/>
              </a:ext>
            </a:extLst>
          </p:cNvPr>
          <p:cNvSpPr txBox="1"/>
          <p:nvPr/>
        </p:nvSpPr>
        <p:spPr>
          <a:xfrm>
            <a:off x="1905000" y="3276600"/>
            <a:ext cx="939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900" b="1" dirty="0">
                <a:solidFill>
                  <a:srgbClr val="1F2937"/>
                </a:solidFill>
              </a:rPr>
              <a:t>Réalisations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7156DF58-4057-1043-93D3-9AE13CA7D9A8}"/>
              </a:ext>
            </a:extLst>
          </p:cNvPr>
          <p:cNvSpPr txBox="1"/>
          <p:nvPr/>
        </p:nvSpPr>
        <p:spPr>
          <a:xfrm>
            <a:off x="1905000" y="3632200"/>
            <a:ext cx="939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6B7280"/>
                </a:solidFill>
              </a:rPr>
              <a:t>Les trois premiers lots déjà engagés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3D324D28-2794-7748-B7B3-FDF8D1354D67}"/>
              </a:ext>
            </a:extLst>
          </p:cNvPr>
          <p:cNvSpPr/>
          <p:nvPr/>
        </p:nvSpPr>
        <p:spPr>
          <a:xfrm>
            <a:off x="1016000" y="4241800"/>
            <a:ext cx="635000" cy="6350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2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58139EB-4DCB-4D41-81E3-F1C5A069F99C}"/>
              </a:ext>
            </a:extLst>
          </p:cNvPr>
          <p:cNvSpPr txBox="1"/>
          <p:nvPr/>
        </p:nvSpPr>
        <p:spPr>
          <a:xfrm>
            <a:off x="1905000" y="4267200"/>
            <a:ext cx="939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900" b="1">
                <a:solidFill>
                  <a:srgbClr val="1F2937"/>
                </a:solidFill>
              </a:rPr>
              <a:t>Analyse &amp; compétences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45B2DB2-0924-7D40-960D-BBA8941B361B}"/>
              </a:ext>
            </a:extLst>
          </p:cNvPr>
          <p:cNvSpPr txBox="1"/>
          <p:nvPr/>
        </p:nvSpPr>
        <p:spPr>
          <a:xfrm>
            <a:off x="1905000" y="4622800"/>
            <a:ext cx="939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6B7280"/>
                </a:solidFill>
              </a:rPr>
              <a:t>Méthode, difficultés, acquis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F6A86A27-34D0-514E-9FA7-72CE7E9CF227}"/>
              </a:ext>
            </a:extLst>
          </p:cNvPr>
          <p:cNvSpPr/>
          <p:nvPr/>
        </p:nvSpPr>
        <p:spPr>
          <a:xfrm>
            <a:off x="1016000" y="5232400"/>
            <a:ext cx="635000" cy="6350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22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340726F1-1E41-404D-A8BA-5662859A7843}"/>
              </a:ext>
            </a:extLst>
          </p:cNvPr>
          <p:cNvSpPr txBox="1"/>
          <p:nvPr/>
        </p:nvSpPr>
        <p:spPr>
          <a:xfrm>
            <a:off x="1905000" y="5257800"/>
            <a:ext cx="939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900" b="1">
                <a:solidFill>
                  <a:srgbClr val="1F2937"/>
                </a:solidFill>
              </a:rPr>
              <a:t>Perspectives &amp; mémoire M2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BE98DC4B-1035-454D-9EB4-8D669EC9077C}"/>
              </a:ext>
            </a:extLst>
          </p:cNvPr>
          <p:cNvSpPr txBox="1"/>
          <p:nvPr/>
        </p:nvSpPr>
        <p:spPr>
          <a:xfrm>
            <a:off x="1905000" y="5613400"/>
            <a:ext cx="939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6B7280"/>
                </a:solidFill>
              </a:rPr>
              <a:t>Suite du projet et sujet pressenti</a:t>
            </a:r>
          </a:p>
        </p:txBody>
      </p:sp>
    </p:spTree>
    <p:extLst>
      <p:ext uri="{BB962C8B-B14F-4D97-AF65-F5344CB8AC3E}">
        <p14:creationId xmlns:p14="http://schemas.microsoft.com/office/powerpoint/2010/main" val="19832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8" grpId="0" animBg="1"/>
      <p:bldP spid="29" grpId="0"/>
      <p:bldP spid="30" grpId="0"/>
      <p:bldP spid="31" grpId="0" animBg="1"/>
      <p:bldP spid="32" grpId="0"/>
      <p:bldP spid="33" grpId="0"/>
      <p:bldP spid="34" grpId="0" animBg="1"/>
      <p:bldP spid="35" grpId="0"/>
      <p:bldP spid="36" grpId="0"/>
      <p:bldP spid="37" grpId="0" animBg="1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6BA0092-BB29-B346-B130-F03E986C2A19}"/>
              </a:ext>
            </a:extLst>
          </p:cNvPr>
          <p:cNvSpPr/>
          <p:nvPr/>
        </p:nvSpPr>
        <p:spPr>
          <a:xfrm>
            <a:off x="762000" y="355600"/>
            <a:ext cx="63500" cy="406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565329AB-C60E-A14D-8EDF-1A54607C7E24}"/>
              </a:ext>
            </a:extLst>
          </p:cNvPr>
          <p:cNvSpPr txBox="1"/>
          <p:nvPr/>
        </p:nvSpPr>
        <p:spPr>
          <a:xfrm>
            <a:off x="9525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 b="1">
                <a:solidFill>
                  <a:srgbClr val="1F3A5F"/>
                </a:solidFill>
              </a:rPr>
              <a:t>SFR en quelques chiffres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EF321C8-8BDA-5545-B43E-69B3FAAB2F6B}"/>
              </a:ext>
            </a:extLst>
          </p:cNvPr>
          <p:cNvSpPr txBox="1"/>
          <p:nvPr/>
        </p:nvSpPr>
        <p:spPr>
          <a:xfrm>
            <a:off x="10795000" y="381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dirty="0">
                <a:solidFill>
                  <a:srgbClr val="9CA3AF"/>
                </a:solidFill>
              </a:rPr>
              <a:t>3 / 13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78C8F4-E508-BC4D-848B-3FA0E220EDDB}"/>
              </a:ext>
            </a:extLst>
          </p:cNvPr>
          <p:cNvSpPr/>
          <p:nvPr/>
        </p:nvSpPr>
        <p:spPr>
          <a:xfrm>
            <a:off x="762000" y="889000"/>
            <a:ext cx="10668000" cy="127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E7AE170-2297-694D-9662-38739B096695}"/>
              </a:ext>
            </a:extLst>
          </p:cNvPr>
          <p:cNvSpPr txBox="1"/>
          <p:nvPr/>
        </p:nvSpPr>
        <p:spPr>
          <a:xfrm>
            <a:off x="762000" y="11430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fr-FR" sz="1500" i="1" dirty="0">
                <a:solidFill>
                  <a:srgbClr val="374151"/>
                </a:solidFill>
              </a:rPr>
              <a:t>2ᵉ opérateur télécom français, filiale d'Altice France, au service du grand public et des entreprises.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36FC05-6970-684A-8A1E-11C6AAB6281F}"/>
              </a:ext>
            </a:extLst>
          </p:cNvPr>
          <p:cNvSpPr/>
          <p:nvPr/>
        </p:nvSpPr>
        <p:spPr>
          <a:xfrm>
            <a:off x="768350" y="1905000"/>
            <a:ext cx="2540000" cy="36830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6AB6058-1C54-1240-B2EF-9379BE07BE45}"/>
              </a:ext>
            </a:extLst>
          </p:cNvPr>
          <p:cNvSpPr/>
          <p:nvPr/>
        </p:nvSpPr>
        <p:spPr>
          <a:xfrm>
            <a:off x="768350" y="1905000"/>
            <a:ext cx="2540000" cy="635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D09DB61B-A049-9141-B0C0-909311E9889A}"/>
              </a:ext>
            </a:extLst>
          </p:cNvPr>
          <p:cNvSpPr txBox="1"/>
          <p:nvPr/>
        </p:nvSpPr>
        <p:spPr>
          <a:xfrm>
            <a:off x="768350" y="2540000"/>
            <a:ext cx="2540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000" b="1" dirty="0">
                <a:solidFill>
                  <a:srgbClr val="B91C1C"/>
                </a:solidFill>
              </a:rPr>
              <a:t> 25 M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8DD8BBDC-E73F-DB4A-9A8D-0D821EB01164}"/>
              </a:ext>
            </a:extLst>
          </p:cNvPr>
          <p:cNvSpPr txBox="1"/>
          <p:nvPr/>
        </p:nvSpPr>
        <p:spPr>
          <a:xfrm>
            <a:off x="920750" y="36830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1F2937"/>
                </a:solidFill>
              </a:rPr>
              <a:t>clients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BF3A29-ACAD-404C-B1F7-6C3F4F8518EB}"/>
              </a:ext>
            </a:extLst>
          </p:cNvPr>
          <p:cNvSpPr/>
          <p:nvPr/>
        </p:nvSpPr>
        <p:spPr>
          <a:xfrm>
            <a:off x="1784350" y="4508500"/>
            <a:ext cx="50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2BA081C-C092-5A4D-B435-F14360CD81AA}"/>
              </a:ext>
            </a:extLst>
          </p:cNvPr>
          <p:cNvSpPr txBox="1"/>
          <p:nvPr/>
        </p:nvSpPr>
        <p:spPr>
          <a:xfrm>
            <a:off x="920750" y="4699000"/>
            <a:ext cx="2235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fr-FR" sz="1300" dirty="0">
                <a:solidFill>
                  <a:srgbClr val="6B7280"/>
                </a:solidFill>
              </a:rPr>
              <a:t>Particuliers et professionnels en France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E42C712-8EB7-894D-8690-E27E56452861}"/>
              </a:ext>
            </a:extLst>
          </p:cNvPr>
          <p:cNvSpPr/>
          <p:nvPr/>
        </p:nvSpPr>
        <p:spPr>
          <a:xfrm>
            <a:off x="3473450" y="1905000"/>
            <a:ext cx="2540000" cy="36830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0F2FABC-8239-9D4F-A1E1-4A0046C27BAE}"/>
              </a:ext>
            </a:extLst>
          </p:cNvPr>
          <p:cNvSpPr/>
          <p:nvPr/>
        </p:nvSpPr>
        <p:spPr>
          <a:xfrm>
            <a:off x="3473450" y="1905000"/>
            <a:ext cx="2540000" cy="635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53B1BF0-345B-D748-B314-C2F0B2DA4A1C}"/>
              </a:ext>
            </a:extLst>
          </p:cNvPr>
          <p:cNvSpPr txBox="1"/>
          <p:nvPr/>
        </p:nvSpPr>
        <p:spPr>
          <a:xfrm>
            <a:off x="3473450" y="2540000"/>
            <a:ext cx="2540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000" b="1" dirty="0">
                <a:solidFill>
                  <a:srgbClr val="B91C1C"/>
                </a:solidFill>
              </a:rPr>
              <a:t> 9,2 Md€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E114AB8B-D702-FD4B-8405-2E3423AC260C}"/>
              </a:ext>
            </a:extLst>
          </p:cNvPr>
          <p:cNvSpPr txBox="1"/>
          <p:nvPr/>
        </p:nvSpPr>
        <p:spPr>
          <a:xfrm>
            <a:off x="3625850" y="36830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 dirty="0">
                <a:solidFill>
                  <a:srgbClr val="1F2937"/>
                </a:solidFill>
              </a:rPr>
              <a:t>de chiffre d'affaires en 2025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CC86B03-FA40-6243-BD68-3C1513F018B3}"/>
              </a:ext>
            </a:extLst>
          </p:cNvPr>
          <p:cNvSpPr/>
          <p:nvPr/>
        </p:nvSpPr>
        <p:spPr>
          <a:xfrm>
            <a:off x="4489450" y="4508500"/>
            <a:ext cx="50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EFD1BD9E-AB98-7345-8BBE-73E63648A58E}"/>
              </a:ext>
            </a:extLst>
          </p:cNvPr>
          <p:cNvSpPr txBox="1"/>
          <p:nvPr/>
        </p:nvSpPr>
        <p:spPr>
          <a:xfrm>
            <a:off x="3625850" y="4699000"/>
            <a:ext cx="2235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6B7280"/>
                </a:solidFill>
              </a:rPr>
              <a:t>Filiale d'Altice France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5878ED-B9AE-984F-B995-D429DF4B7A8D}"/>
              </a:ext>
            </a:extLst>
          </p:cNvPr>
          <p:cNvSpPr/>
          <p:nvPr/>
        </p:nvSpPr>
        <p:spPr>
          <a:xfrm>
            <a:off x="6178550" y="1905000"/>
            <a:ext cx="2540000" cy="36830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82A18D6-A8C3-1B48-8D24-BA85871DDC38}"/>
              </a:ext>
            </a:extLst>
          </p:cNvPr>
          <p:cNvSpPr/>
          <p:nvPr/>
        </p:nvSpPr>
        <p:spPr>
          <a:xfrm>
            <a:off x="6178550" y="1905000"/>
            <a:ext cx="2540000" cy="635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68752EC8-FE5B-B149-8885-5D93AAE7C7C8}"/>
              </a:ext>
            </a:extLst>
          </p:cNvPr>
          <p:cNvSpPr txBox="1"/>
          <p:nvPr/>
        </p:nvSpPr>
        <p:spPr>
          <a:xfrm>
            <a:off x="6178550" y="2540000"/>
            <a:ext cx="2540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lvl="0" algn="ctr">
              <a:lnSpc>
                <a:spcPct val="110000"/>
              </a:lnSpc>
            </a:pPr>
            <a:r>
              <a:rPr lang="fr-FR" sz="2800" b="1" dirty="0">
                <a:solidFill>
                  <a:srgbClr val="B91C1C"/>
                </a:solidFill>
              </a:rPr>
              <a:t>+85 %</a:t>
            </a:r>
            <a:r>
              <a:rPr lang="fr-FR" sz="1400" b="1" dirty="0">
                <a:solidFill>
                  <a:srgbClr val="6B7280"/>
                </a:solidFill>
              </a:rPr>
              <a:t>  en 5G</a:t>
            </a:r>
            <a:endParaRPr lang="fr-FR" sz="2800" b="1" dirty="0">
              <a:solidFill>
                <a:srgbClr val="B91C1C"/>
              </a:solidFill>
            </a:endParaRPr>
          </a:p>
          <a:p>
            <a:pPr algn="ctr">
              <a:lnSpc>
                <a:spcPct val="110000"/>
              </a:lnSpc>
              <a:buNone/>
            </a:pPr>
            <a:r>
              <a:rPr lang="fr-FR" sz="2800" b="1" dirty="0">
                <a:solidFill>
                  <a:srgbClr val="B91C1C"/>
                </a:solidFill>
              </a:rPr>
              <a:t>99,9 %</a:t>
            </a:r>
            <a:r>
              <a:rPr lang="fr-FR" sz="1400" b="1" dirty="0">
                <a:solidFill>
                  <a:srgbClr val="6B7280"/>
                </a:solidFill>
              </a:rPr>
              <a:t>  en 4G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5F64291-EF08-1F47-8E5C-98D7EC5FE749}"/>
              </a:ext>
            </a:extLst>
          </p:cNvPr>
          <p:cNvSpPr txBox="1"/>
          <p:nvPr/>
        </p:nvSpPr>
        <p:spPr>
          <a:xfrm>
            <a:off x="6330950" y="36830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25000"/>
              </a:lnSpc>
              <a:buNone/>
            </a:pPr>
            <a:r>
              <a:rPr lang="fr-FR" sz="1600" b="1" dirty="0">
                <a:solidFill>
                  <a:srgbClr val="1F2937"/>
                </a:solidFill>
              </a:rPr>
              <a:t>de la population française couverte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52E70F0-7591-1E4A-888F-664A2CB7E611}"/>
              </a:ext>
            </a:extLst>
          </p:cNvPr>
          <p:cNvSpPr/>
          <p:nvPr/>
        </p:nvSpPr>
        <p:spPr>
          <a:xfrm>
            <a:off x="7194550" y="4508500"/>
            <a:ext cx="50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1452D549-FE3D-0D42-969D-6C34580D847F}"/>
              </a:ext>
            </a:extLst>
          </p:cNvPr>
          <p:cNvSpPr txBox="1"/>
          <p:nvPr/>
        </p:nvSpPr>
        <p:spPr>
          <a:xfrm>
            <a:off x="6330950" y="4699000"/>
            <a:ext cx="2235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fr-FR" sz="1300" dirty="0">
                <a:solidFill>
                  <a:srgbClr val="6B7280"/>
                </a:solidFill>
              </a:rPr>
              <a:t>4G fin 2024  ·  5G au 30 novembre 2025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0F67C31-E0DC-B648-B5CE-4C0890682450}"/>
              </a:ext>
            </a:extLst>
          </p:cNvPr>
          <p:cNvSpPr/>
          <p:nvPr/>
        </p:nvSpPr>
        <p:spPr>
          <a:xfrm>
            <a:off x="8883650" y="1905000"/>
            <a:ext cx="2540000" cy="36830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33F274-1435-CC4D-BBC4-B8904DD40455}"/>
              </a:ext>
            </a:extLst>
          </p:cNvPr>
          <p:cNvSpPr/>
          <p:nvPr/>
        </p:nvSpPr>
        <p:spPr>
          <a:xfrm>
            <a:off x="8883650" y="1905000"/>
            <a:ext cx="2540000" cy="635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D0ECFE28-6B78-264E-9B36-C7F4E1D48C92}"/>
              </a:ext>
            </a:extLst>
          </p:cNvPr>
          <p:cNvSpPr txBox="1"/>
          <p:nvPr/>
        </p:nvSpPr>
        <p:spPr>
          <a:xfrm>
            <a:off x="8883650" y="2540000"/>
            <a:ext cx="2540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000" b="1" dirty="0">
                <a:solidFill>
                  <a:srgbClr val="B91C1C"/>
                </a:solidFill>
              </a:rPr>
              <a:t> 40 M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6162C8B2-6126-AC47-9EE1-401F7A48F786}"/>
              </a:ext>
            </a:extLst>
          </p:cNvPr>
          <p:cNvSpPr txBox="1"/>
          <p:nvPr/>
        </p:nvSpPr>
        <p:spPr>
          <a:xfrm>
            <a:off x="9036050" y="36830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1F2937"/>
                </a:solidFill>
              </a:rPr>
              <a:t>de foyers raccordables fibre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F0562FB-B0FE-C34C-B68E-2382818F80FB}"/>
              </a:ext>
            </a:extLst>
          </p:cNvPr>
          <p:cNvSpPr/>
          <p:nvPr/>
        </p:nvSpPr>
        <p:spPr>
          <a:xfrm>
            <a:off x="9899650" y="4508500"/>
            <a:ext cx="508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8B2983BB-C216-0E41-82AB-B45D3BB138B0}"/>
              </a:ext>
            </a:extLst>
          </p:cNvPr>
          <p:cNvSpPr txBox="1"/>
          <p:nvPr/>
        </p:nvSpPr>
        <p:spPr>
          <a:xfrm>
            <a:off x="9036050" y="4699000"/>
            <a:ext cx="2235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6B7280"/>
                </a:solidFill>
              </a:rPr>
              <a:t>Premier réseau fibre national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6AF0BC5D-A8DF-B349-A3A9-70A4CD8E28DA}"/>
              </a:ext>
            </a:extLst>
          </p:cNvPr>
          <p:cNvSpPr txBox="1"/>
          <p:nvPr/>
        </p:nvSpPr>
        <p:spPr>
          <a:xfrm>
            <a:off x="762000" y="62865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fr-FR" sz="1100" i="1" dirty="0">
                <a:solidFill>
                  <a:srgbClr val="9CA3AF"/>
                </a:solidFill>
              </a:rPr>
              <a:t>Sources : communication corporate SFR / Altice France (CA 2025), SFR Business (couverture 5G au 30/11/2025).</a:t>
            </a:r>
          </a:p>
        </p:txBody>
      </p:sp>
    </p:spTree>
    <p:extLst>
      <p:ext uri="{BB962C8B-B14F-4D97-AF65-F5344CB8AC3E}">
        <p14:creationId xmlns:p14="http://schemas.microsoft.com/office/powerpoint/2010/main" val="35453183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/>
      <p:bldP spid="40" grpId="0"/>
      <p:bldP spid="42" grpId="0"/>
      <p:bldP spid="43" grpId="0" animBg="1"/>
      <p:bldP spid="44" grpId="0" animBg="1"/>
      <p:bldP spid="45" grpId="0"/>
      <p:bldP spid="46" grpId="0"/>
      <p:bldP spid="48" grpId="0"/>
      <p:bldP spid="49" grpId="0" animBg="1"/>
      <p:bldP spid="50" grpId="0" animBg="1"/>
      <p:bldP spid="51" grpId="0"/>
      <p:bldP spid="52" grpId="0"/>
      <p:bldP spid="54" grpId="0"/>
      <p:bldP spid="55" grpId="0" animBg="1"/>
      <p:bldP spid="56" grpId="0" animBg="1"/>
      <p:bldP spid="57" grpId="0"/>
      <p:bldP spid="58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4BF3AE7-AE46-F94A-9331-78D1B3A27AB7}"/>
              </a:ext>
            </a:extLst>
          </p:cNvPr>
          <p:cNvSpPr/>
          <p:nvPr/>
        </p:nvSpPr>
        <p:spPr>
          <a:xfrm>
            <a:off x="762000" y="355600"/>
            <a:ext cx="63500" cy="406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299CDB0-D643-DF42-A7CA-B941DF79D7B6}"/>
              </a:ext>
            </a:extLst>
          </p:cNvPr>
          <p:cNvSpPr txBox="1"/>
          <p:nvPr/>
        </p:nvSpPr>
        <p:spPr>
          <a:xfrm>
            <a:off x="9525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 b="1">
                <a:solidFill>
                  <a:srgbClr val="1F3A5F"/>
                </a:solidFill>
              </a:rPr>
              <a:t>Mon environnement de travail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646E33D-2474-C74A-BDCD-2622F020F220}"/>
              </a:ext>
            </a:extLst>
          </p:cNvPr>
          <p:cNvSpPr txBox="1"/>
          <p:nvPr/>
        </p:nvSpPr>
        <p:spPr>
          <a:xfrm>
            <a:off x="10795000" y="381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dirty="0">
                <a:solidFill>
                  <a:srgbClr val="9CA3AF"/>
                </a:solidFill>
              </a:rPr>
              <a:t>4 / 13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27D910-9C44-5347-8F96-ADC818323283}"/>
              </a:ext>
            </a:extLst>
          </p:cNvPr>
          <p:cNvSpPr/>
          <p:nvPr/>
        </p:nvSpPr>
        <p:spPr>
          <a:xfrm>
            <a:off x="762000" y="889000"/>
            <a:ext cx="10668000" cy="127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C77981A-BDE3-3D4A-8414-0DA424193FF7}"/>
              </a:ext>
            </a:extLst>
          </p:cNvPr>
          <p:cNvSpPr txBox="1"/>
          <p:nvPr/>
        </p:nvSpPr>
        <p:spPr>
          <a:xfrm>
            <a:off x="762000" y="1206500"/>
            <a:ext cx="520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 dirty="0">
                <a:solidFill>
                  <a:srgbClr val="B91C1C"/>
                </a:solidFill>
              </a:rPr>
              <a:t>Position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1A1F2CB-1D23-864B-8CD0-71053E589DC8}"/>
              </a:ext>
            </a:extLst>
          </p:cNvPr>
          <p:cNvSpPr/>
          <p:nvPr/>
        </p:nvSpPr>
        <p:spPr>
          <a:xfrm>
            <a:off x="762000" y="1727200"/>
            <a:ext cx="101600" cy="1016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D0F7355-DF1F-E046-A903-D9C4D28C908A}"/>
              </a:ext>
            </a:extLst>
          </p:cNvPr>
          <p:cNvSpPr txBox="1"/>
          <p:nvPr/>
        </p:nvSpPr>
        <p:spPr>
          <a:xfrm>
            <a:off x="990600" y="1651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F2937"/>
                </a:solidFill>
              </a:rPr>
              <a:t>Direction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667099B-AE6D-DC43-84A2-08EEC3D03A6C}"/>
              </a:ext>
            </a:extLst>
          </p:cNvPr>
          <p:cNvSpPr txBox="1"/>
          <p:nvPr/>
        </p:nvSpPr>
        <p:spPr>
          <a:xfrm>
            <a:off x="990600" y="1930400"/>
            <a:ext cx="508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SI OSS Mobile &amp; Provisioning, SFR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C64603FE-DB45-5540-B8BC-217C0903D66E}"/>
              </a:ext>
            </a:extLst>
          </p:cNvPr>
          <p:cNvSpPr/>
          <p:nvPr/>
        </p:nvSpPr>
        <p:spPr>
          <a:xfrm>
            <a:off x="762000" y="2692400"/>
            <a:ext cx="101600" cy="1016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7A28BAA-D945-714D-974D-C63A080818BB}"/>
              </a:ext>
            </a:extLst>
          </p:cNvPr>
          <p:cNvSpPr txBox="1"/>
          <p:nvPr/>
        </p:nvSpPr>
        <p:spPr>
          <a:xfrm>
            <a:off x="990600" y="2616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F2937"/>
                </a:solidFill>
              </a:rPr>
              <a:t>Équipe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8D87E36-678E-B24A-89B6-2F1C5608E6BD}"/>
              </a:ext>
            </a:extLst>
          </p:cNvPr>
          <p:cNvSpPr txBox="1"/>
          <p:nvPr/>
        </p:nvSpPr>
        <p:spPr>
          <a:xfrm>
            <a:off x="990600" y="2895600"/>
            <a:ext cx="508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Une dizaine de personnes, organisée par SSA (Sous-Système Applicatif)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66073FBA-3ADD-D647-BE07-EB137F50E574}"/>
              </a:ext>
            </a:extLst>
          </p:cNvPr>
          <p:cNvSpPr/>
          <p:nvPr/>
        </p:nvSpPr>
        <p:spPr>
          <a:xfrm>
            <a:off x="762000" y="3657600"/>
            <a:ext cx="101600" cy="1016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769B91E-FCC1-DC41-833F-4619FAEADD22}"/>
              </a:ext>
            </a:extLst>
          </p:cNvPr>
          <p:cNvSpPr txBox="1"/>
          <p:nvPr/>
        </p:nvSpPr>
        <p:spPr>
          <a:xfrm>
            <a:off x="990600" y="3581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F2937"/>
                </a:solidFill>
              </a:rPr>
              <a:t>SSA d'affectation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B27444C6-7004-6847-AB8E-6AB39CC9F7A2}"/>
              </a:ext>
            </a:extLst>
          </p:cNvPr>
          <p:cNvSpPr txBox="1"/>
          <p:nvPr/>
        </p:nvSpPr>
        <p:spPr>
          <a:xfrm>
            <a:off x="990600" y="3860800"/>
            <a:ext cx="508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PNM SRR — portabilité des numéros mobiles à La Réunion et Mayotte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41021990-B37A-B140-84A8-9F47EB598D12}"/>
              </a:ext>
            </a:extLst>
          </p:cNvPr>
          <p:cNvSpPr/>
          <p:nvPr/>
        </p:nvSpPr>
        <p:spPr>
          <a:xfrm>
            <a:off x="762000" y="4622800"/>
            <a:ext cx="101600" cy="1016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7B16809-9BDF-4E48-A680-EDCB02459434}"/>
              </a:ext>
            </a:extLst>
          </p:cNvPr>
          <p:cNvSpPr txBox="1"/>
          <p:nvPr/>
        </p:nvSpPr>
        <p:spPr>
          <a:xfrm>
            <a:off x="990600" y="4546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F2937"/>
                </a:solidFill>
              </a:rPr>
              <a:t>Partenaires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73E46AC-7CB5-D147-ABD0-E5924C10B15D}"/>
              </a:ext>
            </a:extLst>
          </p:cNvPr>
          <p:cNvSpPr txBox="1"/>
          <p:nvPr/>
        </p:nvSpPr>
        <p:spPr>
          <a:xfrm>
            <a:off x="990600" y="4826000"/>
            <a:ext cx="508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Collaboration régulière avec les développeurs Intelcia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64727EF-3BAD-7B48-B521-7BDFD5E4298B}"/>
              </a:ext>
            </a:extLst>
          </p:cNvPr>
          <p:cNvSpPr txBox="1"/>
          <p:nvPr/>
        </p:nvSpPr>
        <p:spPr>
          <a:xfrm>
            <a:off x="6477000" y="12065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B91C1C"/>
                </a:solidFill>
              </a:rPr>
              <a:t>Mon entourage projet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4D5D2024-BA7C-F947-8026-281619D17F02}"/>
              </a:ext>
            </a:extLst>
          </p:cNvPr>
          <p:cNvSpPr/>
          <p:nvPr/>
        </p:nvSpPr>
        <p:spPr>
          <a:xfrm>
            <a:off x="9398000" y="1803400"/>
            <a:ext cx="2032000" cy="711200"/>
          </a:xfrm>
          <a:prstGeom prst="roundRect">
            <a:avLst/>
          </a:prstGeom>
          <a:solidFill>
            <a:srgbClr val="B91C1C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fr-FR" sz="1100" b="1" dirty="0">
                <a:solidFill>
                  <a:srgbClr val="FFFFFF"/>
                </a:solidFill>
              </a:rPr>
              <a:t>Safia BOUKHEDDIMI</a:t>
            </a:r>
            <a:r>
              <a:rPr lang="fr-FR" sz="1100" dirty="0">
                <a:solidFill>
                  <a:srgbClr val="FFFFFF"/>
                </a:solidFill>
              </a:rPr>
              <a:t>
</a:t>
            </a:r>
            <a:r>
              <a:rPr lang="fr-FR" sz="1100" i="1" dirty="0">
                <a:solidFill>
                  <a:srgbClr val="FFFFFF"/>
                </a:solidFill>
              </a:rPr>
              <a:t>Tutrice d'alternance – Leader Technique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4DB02AE-27A7-2245-86F8-6462395DD286}"/>
              </a:ext>
            </a:extLst>
          </p:cNvPr>
          <p:cNvSpPr/>
          <p:nvPr/>
        </p:nvSpPr>
        <p:spPr>
          <a:xfrm>
            <a:off x="9398000" y="2671349"/>
            <a:ext cx="2032000" cy="878983"/>
          </a:xfrm>
          <a:prstGeom prst="roundRect">
            <a:avLst/>
          </a:prstGeom>
          <a:solidFill>
            <a:srgbClr val="1F3A5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fr-FR" sz="1100" b="1" dirty="0">
                <a:solidFill>
                  <a:srgbClr val="FFFFFF"/>
                </a:solidFill>
              </a:rPr>
              <a:t>Christine CHOSSON</a:t>
            </a:r>
            <a:r>
              <a:rPr lang="fr-FR" sz="1100" dirty="0">
                <a:solidFill>
                  <a:srgbClr val="FFFFFF"/>
                </a:solidFill>
              </a:rPr>
              <a:t>
</a:t>
            </a:r>
            <a:r>
              <a:rPr lang="fr-FR" sz="1100" i="1" dirty="0">
                <a:solidFill>
                  <a:srgbClr val="FFFFFF"/>
                </a:solidFill>
              </a:rPr>
              <a:t>Resp. Ingé. PNM + support suppl. à la tutrice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EAC9CDC-E42F-E74C-9861-6765A71E9E5F}"/>
              </a:ext>
            </a:extLst>
          </p:cNvPr>
          <p:cNvSpPr/>
          <p:nvPr/>
        </p:nvSpPr>
        <p:spPr>
          <a:xfrm>
            <a:off x="9398000" y="3707082"/>
            <a:ext cx="2032000" cy="787400"/>
          </a:xfrm>
          <a:prstGeom prst="roundRect">
            <a:avLst/>
          </a:prstGeom>
          <a:solidFill>
            <a:srgbClr val="1F3A5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fr-FR" sz="1100" b="1" dirty="0">
                <a:solidFill>
                  <a:srgbClr val="FFFFFF"/>
                </a:solidFill>
              </a:rPr>
              <a:t>Benoit MOISAN</a:t>
            </a:r>
          </a:p>
          <a:p>
            <a:pPr algn="ctr"/>
            <a:r>
              <a:rPr lang="fr-FR" sz="1100" i="1" dirty="0">
                <a:solidFill>
                  <a:srgbClr val="FFFFFF"/>
                </a:solidFill>
              </a:rPr>
              <a:t>Manager d’équipe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9F8F305-2BBB-8249-800E-432CB4A08EA9}"/>
              </a:ext>
            </a:extLst>
          </p:cNvPr>
          <p:cNvSpPr/>
          <p:nvPr/>
        </p:nvSpPr>
        <p:spPr>
          <a:xfrm>
            <a:off x="9398000" y="4651232"/>
            <a:ext cx="2032000" cy="711200"/>
          </a:xfrm>
          <a:prstGeom prst="roundRect">
            <a:avLst/>
          </a:prstGeom>
          <a:solidFill>
            <a:srgbClr val="1F3A5F"/>
          </a:solidFill>
          <a:ln w="635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fr-FR" sz="1100" b="1" dirty="0">
                <a:solidFill>
                  <a:srgbClr val="FFFFFF"/>
                </a:solidFill>
              </a:rPr>
              <a:t>INTELCIA</a:t>
            </a:r>
            <a:r>
              <a:rPr lang="fr-FR" sz="1100" dirty="0">
                <a:solidFill>
                  <a:srgbClr val="FFFFFF"/>
                </a:solidFill>
              </a:rPr>
              <a:t>
</a:t>
            </a:r>
            <a:r>
              <a:rPr lang="fr-FR" sz="1100" i="1" dirty="0">
                <a:solidFill>
                  <a:srgbClr val="FFFFFF"/>
                </a:solidFill>
              </a:rPr>
              <a:t>Partenaires développement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101A43D-1A40-6248-BEC7-5AA369F9EB7A}"/>
              </a:ext>
            </a:extLst>
          </p:cNvPr>
          <p:cNvSpPr/>
          <p:nvPr/>
        </p:nvSpPr>
        <p:spPr>
          <a:xfrm>
            <a:off x="6477000" y="3340100"/>
            <a:ext cx="2286000" cy="889000"/>
          </a:xfrm>
          <a:prstGeom prst="roundRect">
            <a:avLst/>
          </a:prstGeom>
          <a:solidFill>
            <a:srgbClr val="FFFFFF"/>
          </a:solidFill>
          <a:ln w="31750" cap="flat" cmpd="sng" algn="ctr">
            <a:solidFill>
              <a:srgbClr val="1F3A5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fr-FR" sz="1200" b="1" dirty="0">
                <a:solidFill>
                  <a:srgbClr val="1F3A5F"/>
                </a:solidFill>
              </a:rPr>
              <a:t>Souleimane EL QODSI</a:t>
            </a:r>
            <a:r>
              <a:rPr lang="fr-FR" sz="1200" dirty="0">
                <a:solidFill>
                  <a:srgbClr val="1F3A5F"/>
                </a:solidFill>
              </a:rPr>
              <a:t>
</a:t>
            </a:r>
            <a:r>
              <a:rPr lang="fr-FR" sz="1200" i="1" dirty="0">
                <a:solidFill>
                  <a:srgbClr val="1F3A5F"/>
                </a:solidFill>
              </a:rPr>
              <a:t>Apprenti chef de projet développeur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D2F9EB5-C79B-7941-A72D-21948F18E1EF}"/>
              </a:ext>
            </a:extLst>
          </p:cNvPr>
          <p:cNvSpPr txBox="1"/>
          <p:nvPr/>
        </p:nvSpPr>
        <p:spPr>
          <a:xfrm>
            <a:off x="762000" y="62865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i="1">
                <a:solidFill>
                  <a:srgbClr val="9CA3AF"/>
                </a:solidFill>
              </a:rPr>
              <a:t>Tutrice d'alternance mise en évidence en rouge ; autres interlocuteurs projet en bleu marine.</a:t>
            </a:r>
          </a:p>
        </p:txBody>
      </p:sp>
      <p:cxnSp>
        <p:nvCxnSpPr>
          <p:cNvPr id="112" name="Connecteur en arc 111">
            <a:extLst>
              <a:ext uri="{FF2B5EF4-FFF2-40B4-BE49-F238E27FC236}">
                <a16:creationId xmlns:a16="http://schemas.microsoft.com/office/drawing/2014/main" id="{24848D9F-C198-5EF6-F8CB-2C80E817C476}"/>
              </a:ext>
            </a:extLst>
          </p:cNvPr>
          <p:cNvCxnSpPr>
            <a:stCxn id="6" idx="3"/>
            <a:endCxn id="2" idx="1"/>
          </p:cNvCxnSpPr>
          <p:nvPr/>
        </p:nvCxnSpPr>
        <p:spPr>
          <a:xfrm flipV="1">
            <a:off x="8763000" y="2159000"/>
            <a:ext cx="635000" cy="1625600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en arc 113">
            <a:extLst>
              <a:ext uri="{FF2B5EF4-FFF2-40B4-BE49-F238E27FC236}">
                <a16:creationId xmlns:a16="http://schemas.microsoft.com/office/drawing/2014/main" id="{B48B9CE9-9E3E-9D37-A19C-04D3CBEAC8D7}"/>
              </a:ext>
            </a:extLst>
          </p:cNvPr>
          <p:cNvCxnSpPr>
            <a:cxnSpLocks/>
            <a:stCxn id="6" idx="3"/>
            <a:endCxn id="3" idx="1"/>
          </p:cNvCxnSpPr>
          <p:nvPr/>
        </p:nvCxnSpPr>
        <p:spPr>
          <a:xfrm flipV="1">
            <a:off x="8763000" y="3110841"/>
            <a:ext cx="635000" cy="673759"/>
          </a:xfrm>
          <a:prstGeom prst="curvedConnector3">
            <a:avLst>
              <a:gd name="adj1" fmla="val 6362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en arc 115">
            <a:extLst>
              <a:ext uri="{FF2B5EF4-FFF2-40B4-BE49-F238E27FC236}">
                <a16:creationId xmlns:a16="http://schemas.microsoft.com/office/drawing/2014/main" id="{0BD7638B-AD31-8581-4413-CE1B4CDA9604}"/>
              </a:ext>
            </a:extLst>
          </p:cNvPr>
          <p:cNvCxnSpPr>
            <a:stCxn id="6" idx="3"/>
            <a:endCxn id="4" idx="1"/>
          </p:cNvCxnSpPr>
          <p:nvPr/>
        </p:nvCxnSpPr>
        <p:spPr>
          <a:xfrm>
            <a:off x="8763000" y="3784600"/>
            <a:ext cx="635000" cy="316182"/>
          </a:xfrm>
          <a:prstGeom prst="curvedConnector3">
            <a:avLst>
              <a:gd name="adj1" fmla="val 5389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en arc 117">
            <a:extLst>
              <a:ext uri="{FF2B5EF4-FFF2-40B4-BE49-F238E27FC236}">
                <a16:creationId xmlns:a16="http://schemas.microsoft.com/office/drawing/2014/main" id="{E5035A65-1D07-6381-ACD6-7EB31412CAEF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8763000" y="3784600"/>
            <a:ext cx="635000" cy="1222232"/>
          </a:xfrm>
          <a:prstGeom prst="curvedConnector3">
            <a:avLst>
              <a:gd name="adj1" fmla="val 3054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7828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885BCD7-C46C-C541-8A75-143E0E52957E}"/>
              </a:ext>
            </a:extLst>
          </p:cNvPr>
          <p:cNvSpPr/>
          <p:nvPr/>
        </p:nvSpPr>
        <p:spPr>
          <a:xfrm>
            <a:off x="762000" y="355600"/>
            <a:ext cx="63500" cy="406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053C298-5AE8-4440-8543-EE25D558C861}"/>
              </a:ext>
            </a:extLst>
          </p:cNvPr>
          <p:cNvSpPr txBox="1"/>
          <p:nvPr/>
        </p:nvSpPr>
        <p:spPr>
          <a:xfrm>
            <a:off x="9525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 b="1" dirty="0">
                <a:solidFill>
                  <a:srgbClr val="1F3A5F"/>
                </a:solidFill>
              </a:rPr>
              <a:t>La mission : moderniser l’architecture logicielle PNM SRR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5980CA0-089A-0A48-80A5-CEB48229FD54}"/>
              </a:ext>
            </a:extLst>
          </p:cNvPr>
          <p:cNvSpPr txBox="1"/>
          <p:nvPr/>
        </p:nvSpPr>
        <p:spPr>
          <a:xfrm>
            <a:off x="10795000" y="381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dirty="0">
                <a:solidFill>
                  <a:srgbClr val="9CA3AF"/>
                </a:solidFill>
              </a:rPr>
              <a:t>5 / 13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E39BA2-6C84-D940-B57B-CEBF9B627C81}"/>
              </a:ext>
            </a:extLst>
          </p:cNvPr>
          <p:cNvSpPr/>
          <p:nvPr/>
        </p:nvSpPr>
        <p:spPr>
          <a:xfrm>
            <a:off x="762000" y="889000"/>
            <a:ext cx="10668000" cy="127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406E6A-DE74-5241-8596-864C1BD01989}"/>
              </a:ext>
            </a:extLst>
          </p:cNvPr>
          <p:cNvSpPr/>
          <p:nvPr/>
        </p:nvSpPr>
        <p:spPr>
          <a:xfrm>
            <a:off x="762000" y="1143000"/>
            <a:ext cx="63500" cy="10668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BD91D3-622F-CB4D-97F3-90F528710956}"/>
              </a:ext>
            </a:extLst>
          </p:cNvPr>
          <p:cNvSpPr/>
          <p:nvPr/>
        </p:nvSpPr>
        <p:spPr>
          <a:xfrm>
            <a:off x="825500" y="1143000"/>
            <a:ext cx="10604500" cy="10668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1CB7D61-E6E2-BB43-801D-0BB0D25C7023}"/>
              </a:ext>
            </a:extLst>
          </p:cNvPr>
          <p:cNvSpPr txBox="1"/>
          <p:nvPr/>
        </p:nvSpPr>
        <p:spPr>
          <a:xfrm>
            <a:off x="1079500" y="1270000"/>
            <a:ext cx="10160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i="1" dirty="0">
                <a:solidFill>
                  <a:srgbClr val="1F2937"/>
                </a:solidFill>
              </a:rPr>
              <a:t>Désengager IBM MQ et migrer vers Apache Kafka sur l'application qui gère la portabilité des numéros mobiles à La Réunion et Mayotte.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BB02C4F-7A1C-ED4D-BF3B-271B905E4233}"/>
              </a:ext>
            </a:extLst>
          </p:cNvPr>
          <p:cNvSpPr txBox="1"/>
          <p:nvPr/>
        </p:nvSpPr>
        <p:spPr>
          <a:xfrm>
            <a:off x="762000" y="25400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 dirty="0">
                <a:solidFill>
                  <a:srgbClr val="B91C1C"/>
                </a:solidFill>
              </a:rPr>
              <a:t>Pourquoi cette migration 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4F7022-1065-E945-A64E-6C3E26EEA796}"/>
              </a:ext>
            </a:extLst>
          </p:cNvPr>
          <p:cNvSpPr/>
          <p:nvPr/>
        </p:nvSpPr>
        <p:spPr>
          <a:xfrm>
            <a:off x="762000" y="3024632"/>
            <a:ext cx="3429000" cy="3429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E4EACD7-8603-B343-8D1B-CC468E9ADBA9}"/>
              </a:ext>
            </a:extLst>
          </p:cNvPr>
          <p:cNvSpPr txBox="1"/>
          <p:nvPr/>
        </p:nvSpPr>
        <p:spPr>
          <a:xfrm>
            <a:off x="1016000" y="3238500"/>
            <a:ext cx="76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000" b="1" dirty="0">
                <a:solidFill>
                  <a:srgbClr val="1F3A5F"/>
                </a:solidFill>
              </a:rPr>
              <a:t>01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43E154-FD4C-2C44-9FE2-BE5EC7F28BF6}"/>
              </a:ext>
            </a:extLst>
          </p:cNvPr>
          <p:cNvSpPr/>
          <p:nvPr/>
        </p:nvSpPr>
        <p:spPr>
          <a:xfrm>
            <a:off x="1016000" y="3848100"/>
            <a:ext cx="508000" cy="25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40C72C49-EA78-6C43-9AE9-740B82B0AE48}"/>
              </a:ext>
            </a:extLst>
          </p:cNvPr>
          <p:cNvSpPr txBox="1"/>
          <p:nvPr/>
        </p:nvSpPr>
        <p:spPr>
          <a:xfrm>
            <a:off x="1016000" y="4025900"/>
            <a:ext cx="292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1F2937"/>
                </a:solidFill>
              </a:rPr>
              <a:t>Coût de licence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0F2F0FC-0142-7B45-B2D2-CAD0D37C57B5}"/>
              </a:ext>
            </a:extLst>
          </p:cNvPr>
          <p:cNvSpPr txBox="1"/>
          <p:nvPr/>
        </p:nvSpPr>
        <p:spPr>
          <a:xfrm>
            <a:off x="1016000" y="4533900"/>
            <a:ext cx="292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IBM MQ est une solution propriétaire payante.
Kafka est open source et déjà déployé chez SFR.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3E7A6C-E848-E64C-BBAE-9E9D479EF642}"/>
              </a:ext>
            </a:extLst>
          </p:cNvPr>
          <p:cNvSpPr/>
          <p:nvPr/>
        </p:nvSpPr>
        <p:spPr>
          <a:xfrm>
            <a:off x="4381500" y="2984500"/>
            <a:ext cx="3429000" cy="3429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D7ED0FC6-CC84-6243-9332-6B76FF9EBADB}"/>
              </a:ext>
            </a:extLst>
          </p:cNvPr>
          <p:cNvSpPr txBox="1"/>
          <p:nvPr/>
        </p:nvSpPr>
        <p:spPr>
          <a:xfrm>
            <a:off x="4635500" y="3238500"/>
            <a:ext cx="76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000" b="1" dirty="0">
                <a:solidFill>
                  <a:srgbClr val="1F3A5F"/>
                </a:solidFill>
              </a:rPr>
              <a:t>02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6485076-2026-8443-A322-555FBD839CAA}"/>
              </a:ext>
            </a:extLst>
          </p:cNvPr>
          <p:cNvSpPr/>
          <p:nvPr/>
        </p:nvSpPr>
        <p:spPr>
          <a:xfrm>
            <a:off x="4635500" y="3848100"/>
            <a:ext cx="508000" cy="25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05F022C-32EC-6248-A4FF-543339714BC7}"/>
              </a:ext>
            </a:extLst>
          </p:cNvPr>
          <p:cNvSpPr txBox="1"/>
          <p:nvPr/>
        </p:nvSpPr>
        <p:spPr>
          <a:xfrm>
            <a:off x="4635500" y="4025900"/>
            <a:ext cx="292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1F2937"/>
                </a:solidFill>
              </a:rPr>
              <a:t>Limites fonctionnelles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A39632F-2F00-E841-A3BE-BEFE50D7133D}"/>
              </a:ext>
            </a:extLst>
          </p:cNvPr>
          <p:cNvSpPr txBox="1"/>
          <p:nvPr/>
        </p:nvSpPr>
        <p:spPr>
          <a:xfrm>
            <a:off x="4635500" y="4533900"/>
            <a:ext cx="292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MQ atteint ses limites sur le volume et le rejeu des messages.
Kafka apporte du débit et un historique persistant.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F69D087-D91D-7C43-9391-FA0AACBC40CE}"/>
              </a:ext>
            </a:extLst>
          </p:cNvPr>
          <p:cNvSpPr/>
          <p:nvPr/>
        </p:nvSpPr>
        <p:spPr>
          <a:xfrm>
            <a:off x="8001000" y="2984500"/>
            <a:ext cx="3429000" cy="3429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2C138F8-15EC-D543-AA4D-FE6CDC6238FA}"/>
              </a:ext>
            </a:extLst>
          </p:cNvPr>
          <p:cNvSpPr txBox="1"/>
          <p:nvPr/>
        </p:nvSpPr>
        <p:spPr>
          <a:xfrm>
            <a:off x="8255000" y="3238500"/>
            <a:ext cx="76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000" b="1" dirty="0">
                <a:solidFill>
                  <a:srgbClr val="1F3A5F"/>
                </a:solidFill>
              </a:rPr>
              <a:t>03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8A2ED3-E6F3-274C-9BAB-4ABE91850876}"/>
              </a:ext>
            </a:extLst>
          </p:cNvPr>
          <p:cNvSpPr/>
          <p:nvPr/>
        </p:nvSpPr>
        <p:spPr>
          <a:xfrm>
            <a:off x="8255000" y="3848100"/>
            <a:ext cx="508000" cy="25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297D759-D4E4-6A4D-A055-852A6AF599CB}"/>
              </a:ext>
            </a:extLst>
          </p:cNvPr>
          <p:cNvSpPr txBox="1"/>
          <p:nvPr/>
        </p:nvSpPr>
        <p:spPr>
          <a:xfrm>
            <a:off x="8255000" y="4025900"/>
            <a:ext cx="292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1F2937"/>
                </a:solidFill>
              </a:rPr>
              <a:t>Standards modernes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06F954AA-31B0-034B-A311-F0565D87899A}"/>
              </a:ext>
            </a:extLst>
          </p:cNvPr>
          <p:cNvSpPr txBox="1"/>
          <p:nvPr/>
        </p:nvSpPr>
        <p:spPr>
          <a:xfrm>
            <a:off x="8255000" y="4533900"/>
            <a:ext cx="292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Aligner PNM SRR sur l'architecture évènementielle du groupe.
Faciliter les évolutions et la maintenance.</a:t>
            </a:r>
          </a:p>
        </p:txBody>
      </p:sp>
    </p:spTree>
    <p:extLst>
      <p:ext uri="{BB962C8B-B14F-4D97-AF65-F5344CB8AC3E}">
        <p14:creationId xmlns:p14="http://schemas.microsoft.com/office/powerpoint/2010/main" val="359073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/>
      <p:bldP spid="35" grpId="0" animBg="1"/>
      <p:bldP spid="36" grpId="0"/>
      <p:bldP spid="37" grpId="0"/>
      <p:bldP spid="38" grpId="0" animBg="1"/>
      <p:bldP spid="39" grpId="0"/>
      <p:bldP spid="40" grpId="0" animBg="1"/>
      <p:bldP spid="41" grpId="0"/>
      <p:bldP spid="42" grpId="0"/>
      <p:bldP spid="43" grpId="0" animBg="1"/>
      <p:bldP spid="44" grpId="0"/>
      <p:bldP spid="45" grpId="0" animBg="1"/>
      <p:bldP spid="46" grpId="0"/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8E61B27-84FD-E542-948A-7577BE562CFC}"/>
              </a:ext>
            </a:extLst>
          </p:cNvPr>
          <p:cNvSpPr/>
          <p:nvPr/>
        </p:nvSpPr>
        <p:spPr>
          <a:xfrm>
            <a:off x="762000" y="355600"/>
            <a:ext cx="63500" cy="406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9ABBF47F-0A28-D846-B6FA-C87507FDF71F}"/>
              </a:ext>
            </a:extLst>
          </p:cNvPr>
          <p:cNvSpPr txBox="1"/>
          <p:nvPr/>
        </p:nvSpPr>
        <p:spPr>
          <a:xfrm>
            <a:off x="9525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 b="1">
                <a:solidFill>
                  <a:srgbClr val="1F3A5F"/>
                </a:solidFill>
              </a:rPr>
              <a:t>Un projet en 5 lots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2D2A5DE-514D-C84F-805A-5FCD85C8362B}"/>
              </a:ext>
            </a:extLst>
          </p:cNvPr>
          <p:cNvSpPr txBox="1"/>
          <p:nvPr/>
        </p:nvSpPr>
        <p:spPr>
          <a:xfrm>
            <a:off x="10795000" y="381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dirty="0">
                <a:solidFill>
                  <a:srgbClr val="9CA3AF"/>
                </a:solidFill>
              </a:rPr>
              <a:t>6 / 13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4E020DD-A8AE-4949-998F-FF86CBEE041F}"/>
              </a:ext>
            </a:extLst>
          </p:cNvPr>
          <p:cNvSpPr/>
          <p:nvPr/>
        </p:nvSpPr>
        <p:spPr>
          <a:xfrm>
            <a:off x="762000" y="889000"/>
            <a:ext cx="10668000" cy="127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3585005F-622C-1F4F-ACF4-0CA545EC2103}"/>
              </a:ext>
            </a:extLst>
          </p:cNvPr>
          <p:cNvSpPr txBox="1"/>
          <p:nvPr/>
        </p:nvSpPr>
        <p:spPr>
          <a:xfrm>
            <a:off x="762000" y="11430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i="1" dirty="0">
                <a:solidFill>
                  <a:srgbClr val="374151"/>
                </a:solidFill>
              </a:rPr>
              <a:t>Une migration découpée par flux applicatif, du plus simple au plus complexe, pour avancer sans mettre en risque la production.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EC9D07-2A55-F54A-BEB8-D72D9D597FCF}"/>
              </a:ext>
            </a:extLst>
          </p:cNvPr>
          <p:cNvSpPr/>
          <p:nvPr/>
        </p:nvSpPr>
        <p:spPr>
          <a:xfrm>
            <a:off x="647700" y="1689100"/>
            <a:ext cx="2057400" cy="3683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C024D86-50FF-A445-B166-BA0C5675A4C7}"/>
              </a:ext>
            </a:extLst>
          </p:cNvPr>
          <p:cNvSpPr/>
          <p:nvPr/>
        </p:nvSpPr>
        <p:spPr>
          <a:xfrm>
            <a:off x="647700" y="1689100"/>
            <a:ext cx="2057400" cy="101600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120E1168-0AC1-604D-AE65-2B38672598ED}"/>
              </a:ext>
            </a:extLst>
          </p:cNvPr>
          <p:cNvSpPr txBox="1"/>
          <p:nvPr/>
        </p:nvSpPr>
        <p:spPr>
          <a:xfrm>
            <a:off x="647700" y="1968500"/>
            <a:ext cx="2057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b="1" dirty="0">
                <a:solidFill>
                  <a:srgbClr val="1F3A5F"/>
                </a:solidFill>
              </a:rPr>
              <a:t> Lot 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AECDEAE-C196-C94E-8D85-1449509EB8BA}"/>
              </a:ext>
            </a:extLst>
          </p:cNvPr>
          <p:cNvSpPr/>
          <p:nvPr/>
        </p:nvSpPr>
        <p:spPr>
          <a:xfrm>
            <a:off x="1422400" y="2451100"/>
            <a:ext cx="508000" cy="254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42130E31-F97F-1D43-A29F-F3E0FB979F5F}"/>
              </a:ext>
            </a:extLst>
          </p:cNvPr>
          <p:cNvSpPr txBox="1"/>
          <p:nvPr/>
        </p:nvSpPr>
        <p:spPr>
          <a:xfrm>
            <a:off x="774700" y="2705100"/>
            <a:ext cx="1803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F2937"/>
                </a:solidFill>
              </a:rPr>
              <a:t>Désactivation
des flux MQ
obsolètes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44B5CD6-4E7F-B740-8E6E-8A1D5BE0CE9A}"/>
              </a:ext>
            </a:extLst>
          </p:cNvPr>
          <p:cNvSpPr/>
          <p:nvPr/>
        </p:nvSpPr>
        <p:spPr>
          <a:xfrm>
            <a:off x="647700" y="4737100"/>
            <a:ext cx="2057400" cy="635000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12CA1EB8-6557-2547-A538-30A826F74553}"/>
              </a:ext>
            </a:extLst>
          </p:cNvPr>
          <p:cNvSpPr txBox="1"/>
          <p:nvPr/>
        </p:nvSpPr>
        <p:spPr>
          <a:xfrm>
            <a:off x="711200" y="4889500"/>
            <a:ext cx="1930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FFFF"/>
                </a:solidFill>
              </a:rPr>
              <a:t>Livré en production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9A8A3D-0EE5-444E-980A-EBCE304DC7C0}"/>
              </a:ext>
            </a:extLst>
          </p:cNvPr>
          <p:cNvSpPr/>
          <p:nvPr/>
        </p:nvSpPr>
        <p:spPr>
          <a:xfrm>
            <a:off x="2857500" y="1689100"/>
            <a:ext cx="2057400" cy="3683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B7F4119-88D8-0241-810F-82F2529DDF29}"/>
              </a:ext>
            </a:extLst>
          </p:cNvPr>
          <p:cNvSpPr/>
          <p:nvPr/>
        </p:nvSpPr>
        <p:spPr>
          <a:xfrm>
            <a:off x="2857500" y="1689100"/>
            <a:ext cx="2057400" cy="1016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0B4EA9F2-047B-9647-B0EE-BADB261D2297}"/>
              </a:ext>
            </a:extLst>
          </p:cNvPr>
          <p:cNvSpPr txBox="1"/>
          <p:nvPr/>
        </p:nvSpPr>
        <p:spPr>
          <a:xfrm>
            <a:off x="2857500" y="1968500"/>
            <a:ext cx="2057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b="1" dirty="0">
                <a:solidFill>
                  <a:srgbClr val="1F3A5F"/>
                </a:solidFill>
              </a:rPr>
              <a:t> Lot 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C58BEA5-B11F-244A-BFE8-0E9C4C42EC33}"/>
              </a:ext>
            </a:extLst>
          </p:cNvPr>
          <p:cNvSpPr/>
          <p:nvPr/>
        </p:nvSpPr>
        <p:spPr>
          <a:xfrm>
            <a:off x="3632200" y="2451100"/>
            <a:ext cx="508000" cy="254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3257811F-4AAD-7545-91DD-80C64153AAA1}"/>
              </a:ext>
            </a:extLst>
          </p:cNvPr>
          <p:cNvSpPr txBox="1"/>
          <p:nvPr/>
        </p:nvSpPr>
        <p:spPr>
          <a:xfrm>
            <a:off x="2984500" y="2705100"/>
            <a:ext cx="1803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F2937"/>
                </a:solidFill>
              </a:rPr>
              <a:t>Suppression
du code mort
ORIAN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7F9D46F-2454-8040-9A88-331F338F0D16}"/>
              </a:ext>
            </a:extLst>
          </p:cNvPr>
          <p:cNvSpPr/>
          <p:nvPr/>
        </p:nvSpPr>
        <p:spPr>
          <a:xfrm>
            <a:off x="2857500" y="4737100"/>
            <a:ext cx="2057400" cy="6350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FFBDF714-C76D-FF45-8781-442F36E89E37}"/>
              </a:ext>
            </a:extLst>
          </p:cNvPr>
          <p:cNvSpPr txBox="1"/>
          <p:nvPr/>
        </p:nvSpPr>
        <p:spPr>
          <a:xfrm>
            <a:off x="2921000" y="4889500"/>
            <a:ext cx="1930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FFFF"/>
                </a:solidFill>
              </a:rPr>
              <a:t>En test (IPP)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9EA566E-25A1-804E-9196-66A0AD301941}"/>
              </a:ext>
            </a:extLst>
          </p:cNvPr>
          <p:cNvSpPr/>
          <p:nvPr/>
        </p:nvSpPr>
        <p:spPr>
          <a:xfrm>
            <a:off x="5067300" y="1689100"/>
            <a:ext cx="2057400" cy="3683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E39D9F5-34E6-A641-8C74-3885139CC62C}"/>
              </a:ext>
            </a:extLst>
          </p:cNvPr>
          <p:cNvSpPr/>
          <p:nvPr/>
        </p:nvSpPr>
        <p:spPr>
          <a:xfrm>
            <a:off x="5067300" y="1689100"/>
            <a:ext cx="2057400" cy="101600"/>
          </a:xfrm>
          <a:prstGeom prst="rect">
            <a:avLst/>
          </a:prstGeom>
          <a:solidFill>
            <a:srgbClr val="B4530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B5D36ECD-D895-8747-876C-9EB5607E0647}"/>
              </a:ext>
            </a:extLst>
          </p:cNvPr>
          <p:cNvSpPr txBox="1"/>
          <p:nvPr/>
        </p:nvSpPr>
        <p:spPr>
          <a:xfrm>
            <a:off x="5067300" y="1968500"/>
            <a:ext cx="2057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b="1" dirty="0">
                <a:solidFill>
                  <a:srgbClr val="1F3A5F"/>
                </a:solidFill>
              </a:rPr>
              <a:t> Lot 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C601DA7-4F2B-E547-8A2C-73A7CA128F4A}"/>
              </a:ext>
            </a:extLst>
          </p:cNvPr>
          <p:cNvSpPr/>
          <p:nvPr/>
        </p:nvSpPr>
        <p:spPr>
          <a:xfrm>
            <a:off x="5842000" y="2451100"/>
            <a:ext cx="508000" cy="254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65D46BAE-A3E5-714F-96FD-3CAC73ED7D10}"/>
              </a:ext>
            </a:extLst>
          </p:cNvPr>
          <p:cNvSpPr txBox="1"/>
          <p:nvPr/>
        </p:nvSpPr>
        <p:spPr>
          <a:xfrm>
            <a:off x="5194300" y="2705100"/>
            <a:ext cx="1803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F2937"/>
                </a:solidFill>
              </a:rPr>
              <a:t>Kafka
sur les flux
BPS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8907289-8854-E247-8A15-81A3E14D4BD2}"/>
              </a:ext>
            </a:extLst>
          </p:cNvPr>
          <p:cNvSpPr/>
          <p:nvPr/>
        </p:nvSpPr>
        <p:spPr>
          <a:xfrm>
            <a:off x="5067300" y="4737100"/>
            <a:ext cx="2057400" cy="635000"/>
          </a:xfrm>
          <a:prstGeom prst="rect">
            <a:avLst/>
          </a:prstGeom>
          <a:solidFill>
            <a:srgbClr val="B4530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0F74B806-B439-D549-B119-210C78D3C019}"/>
              </a:ext>
            </a:extLst>
          </p:cNvPr>
          <p:cNvSpPr txBox="1"/>
          <p:nvPr/>
        </p:nvSpPr>
        <p:spPr>
          <a:xfrm>
            <a:off x="5130800" y="4889500"/>
            <a:ext cx="1930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FFFF"/>
                </a:solidFill>
              </a:rPr>
              <a:t>En cours de dev.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C606AFD-BD53-B140-9790-48D2EBD72DC1}"/>
              </a:ext>
            </a:extLst>
          </p:cNvPr>
          <p:cNvSpPr/>
          <p:nvPr/>
        </p:nvSpPr>
        <p:spPr>
          <a:xfrm>
            <a:off x="7277100" y="1689100"/>
            <a:ext cx="2057400" cy="3683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F031FB6-AD80-0341-8E5E-C96BDE083F42}"/>
              </a:ext>
            </a:extLst>
          </p:cNvPr>
          <p:cNvSpPr/>
          <p:nvPr/>
        </p:nvSpPr>
        <p:spPr>
          <a:xfrm>
            <a:off x="7277100" y="1689100"/>
            <a:ext cx="2057400" cy="1016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853D37EE-AD30-E74C-B69B-422C97152349}"/>
              </a:ext>
            </a:extLst>
          </p:cNvPr>
          <p:cNvSpPr txBox="1"/>
          <p:nvPr/>
        </p:nvSpPr>
        <p:spPr>
          <a:xfrm>
            <a:off x="7277100" y="1968500"/>
            <a:ext cx="2057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b="1" dirty="0">
                <a:solidFill>
                  <a:srgbClr val="1F3A5F"/>
                </a:solidFill>
              </a:rPr>
              <a:t> Lot 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8E089EF-6046-3246-A85A-7143548B5C23}"/>
              </a:ext>
            </a:extLst>
          </p:cNvPr>
          <p:cNvSpPr/>
          <p:nvPr/>
        </p:nvSpPr>
        <p:spPr>
          <a:xfrm>
            <a:off x="8051800" y="2451100"/>
            <a:ext cx="508000" cy="254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886E0BC0-12C4-E14F-9D33-3B27B92074BA}"/>
              </a:ext>
            </a:extLst>
          </p:cNvPr>
          <p:cNvSpPr txBox="1"/>
          <p:nvPr/>
        </p:nvSpPr>
        <p:spPr>
          <a:xfrm>
            <a:off x="7404100" y="2705100"/>
            <a:ext cx="1803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 dirty="0">
                <a:solidFill>
                  <a:srgbClr val="1F2937"/>
                </a:solidFill>
              </a:rPr>
              <a:t>Kafka sur les flux SI
</a:t>
            </a:r>
            <a:r>
              <a:rPr lang="fr-FR" sz="1400" b="1" dirty="0" err="1">
                <a:solidFill>
                  <a:srgbClr val="1F2937"/>
                </a:solidFill>
              </a:rPr>
              <a:t>commerciali</a:t>
            </a:r>
            <a:r>
              <a:rPr lang="fr-FR" sz="1400" b="1" dirty="0">
                <a:solidFill>
                  <a:srgbClr val="1F2937"/>
                </a:solidFill>
              </a:rPr>
              <a:t>-
</a:t>
            </a:r>
            <a:r>
              <a:rPr lang="fr-FR" sz="1400" b="1" dirty="0" err="1">
                <a:solidFill>
                  <a:srgbClr val="1F2937"/>
                </a:solidFill>
              </a:rPr>
              <a:t>sateur</a:t>
            </a:r>
            <a:endParaRPr lang="fr-FR" sz="1400" b="1" dirty="0">
              <a:solidFill>
                <a:srgbClr val="1F2937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D6EF9C4-364E-654D-A6F8-D6B98A899F03}"/>
              </a:ext>
            </a:extLst>
          </p:cNvPr>
          <p:cNvSpPr/>
          <p:nvPr/>
        </p:nvSpPr>
        <p:spPr>
          <a:xfrm>
            <a:off x="7277100" y="4737100"/>
            <a:ext cx="2057400" cy="6350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05313919-7E18-B84E-9350-DB5F9EF644FF}"/>
              </a:ext>
            </a:extLst>
          </p:cNvPr>
          <p:cNvSpPr txBox="1"/>
          <p:nvPr/>
        </p:nvSpPr>
        <p:spPr>
          <a:xfrm>
            <a:off x="7340600" y="4889500"/>
            <a:ext cx="1930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FFFF"/>
                </a:solidFill>
              </a:rPr>
              <a:t>À venir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FFB8C6F-6F47-2B44-8B38-3E2A594FEA3A}"/>
              </a:ext>
            </a:extLst>
          </p:cNvPr>
          <p:cNvSpPr/>
          <p:nvPr/>
        </p:nvSpPr>
        <p:spPr>
          <a:xfrm>
            <a:off x="9486900" y="1689100"/>
            <a:ext cx="2057400" cy="3683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F69AAF2-2779-834B-86A2-5F64B592E6DD}"/>
              </a:ext>
            </a:extLst>
          </p:cNvPr>
          <p:cNvSpPr/>
          <p:nvPr/>
        </p:nvSpPr>
        <p:spPr>
          <a:xfrm>
            <a:off x="9486900" y="1689100"/>
            <a:ext cx="2057400" cy="1016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D2623FFE-3571-AA4A-8CD4-5775DA362CEC}"/>
              </a:ext>
            </a:extLst>
          </p:cNvPr>
          <p:cNvSpPr txBox="1"/>
          <p:nvPr/>
        </p:nvSpPr>
        <p:spPr>
          <a:xfrm>
            <a:off x="9486900" y="1968500"/>
            <a:ext cx="2057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b="1" dirty="0">
                <a:solidFill>
                  <a:srgbClr val="1F3A5F"/>
                </a:solidFill>
              </a:rPr>
              <a:t> Lot 5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AC96336-F8A7-AD4A-8C7E-BD237375D1EB}"/>
              </a:ext>
            </a:extLst>
          </p:cNvPr>
          <p:cNvSpPr/>
          <p:nvPr/>
        </p:nvSpPr>
        <p:spPr>
          <a:xfrm>
            <a:off x="10261600" y="2451100"/>
            <a:ext cx="508000" cy="254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99FB70D0-5DA3-3341-BAE2-158AC007927E}"/>
              </a:ext>
            </a:extLst>
          </p:cNvPr>
          <p:cNvSpPr txBox="1"/>
          <p:nvPr/>
        </p:nvSpPr>
        <p:spPr>
          <a:xfrm>
            <a:off x="9613900" y="2705100"/>
            <a:ext cx="18034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F2937"/>
                </a:solidFill>
              </a:rPr>
              <a:t>Nettoyage
final et
clôture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82C8EA6-17FF-5C4F-A8C8-F23043A49A11}"/>
              </a:ext>
            </a:extLst>
          </p:cNvPr>
          <p:cNvSpPr/>
          <p:nvPr/>
        </p:nvSpPr>
        <p:spPr>
          <a:xfrm>
            <a:off x="9486900" y="4737100"/>
            <a:ext cx="2057400" cy="6350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260B4755-246D-D448-8E0D-CCCDB02E46DE}"/>
              </a:ext>
            </a:extLst>
          </p:cNvPr>
          <p:cNvSpPr txBox="1"/>
          <p:nvPr/>
        </p:nvSpPr>
        <p:spPr>
          <a:xfrm>
            <a:off x="9550400" y="4889500"/>
            <a:ext cx="1930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 dirty="0">
                <a:solidFill>
                  <a:srgbClr val="FFFFFF"/>
                </a:solidFill>
              </a:rPr>
              <a:t>À venir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9D418BA0-6B83-FF44-8BBA-D7B6A8814859}"/>
              </a:ext>
            </a:extLst>
          </p:cNvPr>
          <p:cNvSpPr txBox="1"/>
          <p:nvPr/>
        </p:nvSpPr>
        <p:spPr>
          <a:xfrm>
            <a:off x="624016" y="5488432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dirty="0">
                <a:solidFill>
                  <a:srgbClr val="4B5563"/>
                </a:solidFill>
              </a:rPr>
              <a:t>Avancement à mai 2026 : 1 lot livré en production · 1 lot en phase de test · 1 lot en développement · 2 lots à venir.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0FF8172-4F1B-E746-A0DA-6A2AA491105F}"/>
              </a:ext>
            </a:extLst>
          </p:cNvPr>
          <p:cNvSpPr/>
          <p:nvPr/>
        </p:nvSpPr>
        <p:spPr>
          <a:xfrm>
            <a:off x="4266790" y="5969000"/>
            <a:ext cx="3150419" cy="4826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D8DF7F5-4AE8-6048-9289-E11E1B8DE319}"/>
              </a:ext>
            </a:extLst>
          </p:cNvPr>
          <p:cNvSpPr txBox="1"/>
          <p:nvPr/>
        </p:nvSpPr>
        <p:spPr>
          <a:xfrm>
            <a:off x="4628269" y="6101808"/>
            <a:ext cx="2769419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buNone/>
            </a:pPr>
            <a:r>
              <a:rPr lang="fr-FR" sz="1300" b="1" i="1" dirty="0">
                <a:solidFill>
                  <a:schemeClr val="bg1">
                    <a:lumMod val="50000"/>
                  </a:schemeClr>
                </a:solidFill>
              </a:rPr>
              <a:t>ORIAN</a:t>
            </a:r>
            <a:r>
              <a:rPr lang="fr-FR" sz="1300" i="1" dirty="0">
                <a:solidFill>
                  <a:schemeClr val="bg1">
                    <a:lumMod val="50000"/>
                  </a:schemeClr>
                </a:solidFill>
              </a:rPr>
              <a:t> : ancien SI commercialisateur</a:t>
            </a:r>
          </a:p>
        </p:txBody>
      </p:sp>
      <p:pic>
        <p:nvPicPr>
          <p:cNvPr id="6" name="Graphique 5" descr="Informations avec un remplissage uni">
            <a:extLst>
              <a:ext uri="{FF2B5EF4-FFF2-40B4-BE49-F238E27FC236}">
                <a16:creationId xmlns:a16="http://schemas.microsoft.com/office/drawing/2014/main" id="{8DC4EA2C-C05F-1748-AE8C-365AF22647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9055" y="6085332"/>
            <a:ext cx="239214" cy="23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090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/>
      <p:bldP spid="52" grpId="0" animBg="1"/>
      <p:bldP spid="53" grpId="0"/>
      <p:bldP spid="54" grpId="0" animBg="1"/>
      <p:bldP spid="55" grpId="0"/>
      <p:bldP spid="56" grpId="0" animBg="1"/>
      <p:bldP spid="57" grpId="0" animBg="1"/>
      <p:bldP spid="58" grpId="0"/>
      <p:bldP spid="59" grpId="0" animBg="1"/>
      <p:bldP spid="60" grpId="0"/>
      <p:bldP spid="61" grpId="0" animBg="1"/>
      <p:bldP spid="63" grpId="0" animBg="1"/>
      <p:bldP spid="64" grpId="0" animBg="1"/>
      <p:bldP spid="65" grpId="0"/>
      <p:bldP spid="66" grpId="0" animBg="1"/>
      <p:bldP spid="67" grpId="0"/>
      <p:bldP spid="68" grpId="0" animBg="1"/>
      <p:bldP spid="69" grpId="0"/>
      <p:bldP spid="70" grpId="0" animBg="1"/>
      <p:bldP spid="71" grpId="0" animBg="1"/>
      <p:bldP spid="72" grpId="0"/>
      <p:bldP spid="73" grpId="0" animBg="1"/>
      <p:bldP spid="74" grpId="0"/>
      <p:bldP spid="75" grpId="0" animBg="1"/>
      <p:bldP spid="76" grpId="0"/>
      <p:bldP spid="77" grpId="0" animBg="1"/>
      <p:bldP spid="78" grpId="0" animBg="1"/>
      <p:bldP spid="79" grpId="0"/>
      <p:bldP spid="80" grpId="0" animBg="1"/>
      <p:bldP spid="81" grpId="0"/>
      <p:bldP spid="82" grpId="0" animBg="1"/>
      <p:bldP spid="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AAFF60-332D-F548-BC6D-B7940FA929CB}"/>
              </a:ext>
            </a:extLst>
          </p:cNvPr>
          <p:cNvSpPr/>
          <p:nvPr/>
        </p:nvSpPr>
        <p:spPr>
          <a:xfrm>
            <a:off x="762000" y="355600"/>
            <a:ext cx="63500" cy="406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AB4B7F0-28F2-154C-829D-053ED499B7CF}"/>
              </a:ext>
            </a:extLst>
          </p:cNvPr>
          <p:cNvSpPr txBox="1"/>
          <p:nvPr/>
        </p:nvSpPr>
        <p:spPr>
          <a:xfrm>
            <a:off x="9525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 b="1">
                <a:solidFill>
                  <a:srgbClr val="1F3A5F"/>
                </a:solidFill>
              </a:rPr>
              <a:t>Trois réalisations clés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9221395-E1D7-7844-A34C-9741166ECFBB}"/>
              </a:ext>
            </a:extLst>
          </p:cNvPr>
          <p:cNvSpPr txBox="1"/>
          <p:nvPr/>
        </p:nvSpPr>
        <p:spPr>
          <a:xfrm>
            <a:off x="10795000" y="381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dirty="0">
                <a:solidFill>
                  <a:srgbClr val="9CA3AF"/>
                </a:solidFill>
              </a:rPr>
              <a:t>7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86FCE7-A78F-1B49-B4F0-130A9592B15A}"/>
              </a:ext>
            </a:extLst>
          </p:cNvPr>
          <p:cNvSpPr/>
          <p:nvPr/>
        </p:nvSpPr>
        <p:spPr>
          <a:xfrm>
            <a:off x="762000" y="889000"/>
            <a:ext cx="10668000" cy="127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5C27493-2C62-8B48-98A6-44383E6F7B8E}"/>
              </a:ext>
            </a:extLst>
          </p:cNvPr>
          <p:cNvSpPr txBox="1"/>
          <p:nvPr/>
        </p:nvSpPr>
        <p:spPr>
          <a:xfrm>
            <a:off x="762000" y="11176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i="1">
                <a:solidFill>
                  <a:srgbClr val="374151"/>
                </a:solidFill>
              </a:rPr>
              <a:t>Pour chacun des trois premiers lots, une contribution concrète qui a fait avancer le projet.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3CF3E-C6B5-7E45-9190-557B6017B75E}"/>
              </a:ext>
            </a:extLst>
          </p:cNvPr>
          <p:cNvSpPr/>
          <p:nvPr/>
        </p:nvSpPr>
        <p:spPr>
          <a:xfrm>
            <a:off x="762000" y="1651000"/>
            <a:ext cx="3429000" cy="457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929418-DD86-C74D-B912-FC10D1B87F8B}"/>
              </a:ext>
            </a:extLst>
          </p:cNvPr>
          <p:cNvSpPr/>
          <p:nvPr/>
        </p:nvSpPr>
        <p:spPr>
          <a:xfrm>
            <a:off x="762000" y="1651000"/>
            <a:ext cx="3429000" cy="482600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7841C02-C4F2-5C4B-9257-CEDB2A72DE6D}"/>
              </a:ext>
            </a:extLst>
          </p:cNvPr>
          <p:cNvSpPr txBox="1"/>
          <p:nvPr/>
        </p:nvSpPr>
        <p:spPr>
          <a:xfrm>
            <a:off x="762000" y="1752600"/>
            <a:ext cx="342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 dirty="0">
                <a:solidFill>
                  <a:srgbClr val="FFFFFF"/>
                </a:solidFill>
              </a:rPr>
              <a:t>Lot 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80C1BEC-060E-F74A-845D-9BAD463200D9}"/>
              </a:ext>
            </a:extLst>
          </p:cNvPr>
          <p:cNvSpPr txBox="1"/>
          <p:nvPr/>
        </p:nvSpPr>
        <p:spPr>
          <a:xfrm>
            <a:off x="1016000" y="24130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1F2937"/>
                </a:solidFill>
              </a:rPr>
              <a:t>Déblocage de la chaîne de déploiement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4D5EAD-FD0F-8A46-AF6E-B7A41B5097BE}"/>
              </a:ext>
            </a:extLst>
          </p:cNvPr>
          <p:cNvSpPr/>
          <p:nvPr/>
        </p:nvSpPr>
        <p:spPr>
          <a:xfrm>
            <a:off x="1016000" y="3556000"/>
            <a:ext cx="508000" cy="25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93500BD-BACB-E44F-B295-3F450308527A}"/>
              </a:ext>
            </a:extLst>
          </p:cNvPr>
          <p:cNvSpPr txBox="1"/>
          <p:nvPr/>
        </p:nvSpPr>
        <p:spPr>
          <a:xfrm>
            <a:off x="1016000" y="3810000"/>
            <a:ext cx="29210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dirty="0">
                <a:solidFill>
                  <a:srgbClr val="4B5563"/>
                </a:solidFill>
              </a:rPr>
              <a:t>Diagnostic et solutions proposées pour correction du pipeline </a:t>
            </a:r>
            <a:r>
              <a:rPr lang="fr-FR" sz="1400" dirty="0" err="1">
                <a:solidFill>
                  <a:srgbClr val="4B5563"/>
                </a:solidFill>
              </a:rPr>
              <a:t>GitLab</a:t>
            </a:r>
            <a:r>
              <a:rPr lang="fr-FR" sz="1400" dirty="0">
                <a:solidFill>
                  <a:srgbClr val="4B5563"/>
                </a:solidFill>
              </a:rPr>
              <a:t> CI/CD qui bloquait sur des commandes distantes (SSH).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5C3D8-3D17-D146-990C-D73EC018528E}"/>
              </a:ext>
            </a:extLst>
          </p:cNvPr>
          <p:cNvSpPr/>
          <p:nvPr/>
        </p:nvSpPr>
        <p:spPr>
          <a:xfrm>
            <a:off x="4381500" y="1651000"/>
            <a:ext cx="3429000" cy="457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8443FE-5810-3442-A618-CDC506BDC9E4}"/>
              </a:ext>
            </a:extLst>
          </p:cNvPr>
          <p:cNvSpPr/>
          <p:nvPr/>
        </p:nvSpPr>
        <p:spPr>
          <a:xfrm>
            <a:off x="4381500" y="1651000"/>
            <a:ext cx="3429000" cy="4826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DA91FF6-3BCF-DF49-9B85-1441591EF450}"/>
              </a:ext>
            </a:extLst>
          </p:cNvPr>
          <p:cNvSpPr txBox="1"/>
          <p:nvPr/>
        </p:nvSpPr>
        <p:spPr>
          <a:xfrm>
            <a:off x="4381500" y="1752600"/>
            <a:ext cx="342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 dirty="0">
                <a:solidFill>
                  <a:srgbClr val="FFFFFF"/>
                </a:solidFill>
              </a:rPr>
              <a:t>Lot 2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FE3585B-A7F8-8B47-922B-A7F1749DD1AD}"/>
              </a:ext>
            </a:extLst>
          </p:cNvPr>
          <p:cNvSpPr txBox="1"/>
          <p:nvPr/>
        </p:nvSpPr>
        <p:spPr>
          <a:xfrm>
            <a:off x="4635500" y="24130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1F2937"/>
                </a:solidFill>
              </a:rPr>
              <a:t>Analyse d'impact et nettoyage du code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54EB36-0629-1748-8A8D-213D611BE9C4}"/>
              </a:ext>
            </a:extLst>
          </p:cNvPr>
          <p:cNvSpPr/>
          <p:nvPr/>
        </p:nvSpPr>
        <p:spPr>
          <a:xfrm>
            <a:off x="4635500" y="3556000"/>
            <a:ext cx="508000" cy="25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2719DE0-D29B-A34B-A3C2-F7FEC5C11431}"/>
              </a:ext>
            </a:extLst>
          </p:cNvPr>
          <p:cNvSpPr txBox="1"/>
          <p:nvPr/>
        </p:nvSpPr>
        <p:spPr>
          <a:xfrm>
            <a:off x="4635500" y="3810000"/>
            <a:ext cx="29210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dirty="0">
                <a:solidFill>
                  <a:srgbClr val="4B5563"/>
                </a:solidFill>
              </a:rPr>
              <a:t>Cartographie des fichiers et lignes liés à l'ancien système ORIAN, puis suppression maîtrisée du code mort en Java et en scripts (KSH).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8B555D-68A2-004A-8B59-A0C61ADC86A0}"/>
              </a:ext>
            </a:extLst>
          </p:cNvPr>
          <p:cNvSpPr/>
          <p:nvPr/>
        </p:nvSpPr>
        <p:spPr>
          <a:xfrm>
            <a:off x="8001000" y="1651000"/>
            <a:ext cx="3429000" cy="457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E79BF8-B97B-6349-B78D-658C0CCF397F}"/>
              </a:ext>
            </a:extLst>
          </p:cNvPr>
          <p:cNvSpPr/>
          <p:nvPr/>
        </p:nvSpPr>
        <p:spPr>
          <a:xfrm>
            <a:off x="8001000" y="1651000"/>
            <a:ext cx="3429000" cy="482600"/>
          </a:xfrm>
          <a:prstGeom prst="rect">
            <a:avLst/>
          </a:prstGeom>
          <a:solidFill>
            <a:srgbClr val="B4530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3C25982-2C78-6841-A058-96F8EF264CA7}"/>
              </a:ext>
            </a:extLst>
          </p:cNvPr>
          <p:cNvSpPr txBox="1"/>
          <p:nvPr/>
        </p:nvSpPr>
        <p:spPr>
          <a:xfrm>
            <a:off x="8001000" y="1752600"/>
            <a:ext cx="342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FFFFFF"/>
                </a:solidFill>
              </a:rPr>
              <a:t>Lot 3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1FC2F10-F1EC-B94C-AAD5-B5C0DE9CF5D0}"/>
              </a:ext>
            </a:extLst>
          </p:cNvPr>
          <p:cNvSpPr txBox="1"/>
          <p:nvPr/>
        </p:nvSpPr>
        <p:spPr>
          <a:xfrm>
            <a:off x="8255000" y="24130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1F2937"/>
                </a:solidFill>
              </a:rPr>
              <a:t>Conception Kafka et premiers échanges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07D6AA-C764-0248-8CBD-9829675EC87F}"/>
              </a:ext>
            </a:extLst>
          </p:cNvPr>
          <p:cNvSpPr/>
          <p:nvPr/>
        </p:nvSpPr>
        <p:spPr>
          <a:xfrm>
            <a:off x="8255000" y="3556000"/>
            <a:ext cx="508000" cy="25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58E8E29-17B8-0F40-A3C7-1B28BB23AF24}"/>
              </a:ext>
            </a:extLst>
          </p:cNvPr>
          <p:cNvSpPr txBox="1"/>
          <p:nvPr/>
        </p:nvSpPr>
        <p:spPr>
          <a:xfrm>
            <a:off x="8255000" y="3810000"/>
            <a:ext cx="29210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4B5563"/>
                </a:solidFill>
              </a:rPr>
              <a:t>Architecture cible des nouveaux échanges entre PNM SRR et BPS, puis développement des premiers producteurs et consommateurs de messages.</a:t>
            </a:r>
          </a:p>
        </p:txBody>
      </p:sp>
    </p:spTree>
    <p:extLst>
      <p:ext uri="{BB962C8B-B14F-4D97-AF65-F5344CB8AC3E}">
        <p14:creationId xmlns:p14="http://schemas.microsoft.com/office/powerpoint/2010/main" val="926366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/>
      <p:bldP spid="19" grpId="0" animBg="1"/>
      <p:bldP spid="20" grpId="0" animBg="1"/>
      <p:bldP spid="21" grpId="0"/>
      <p:bldP spid="22" grpId="0"/>
      <p:bldP spid="23" grpId="0" animBg="1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3E34A1-2621-F742-959A-08413CD4F8A7}"/>
              </a:ext>
            </a:extLst>
          </p:cNvPr>
          <p:cNvSpPr/>
          <p:nvPr/>
        </p:nvSpPr>
        <p:spPr>
          <a:xfrm>
            <a:off x="762000" y="355600"/>
            <a:ext cx="63500" cy="406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B0C30AA-C796-D045-85BE-94C073BEAD1B}"/>
              </a:ext>
            </a:extLst>
          </p:cNvPr>
          <p:cNvSpPr txBox="1"/>
          <p:nvPr/>
        </p:nvSpPr>
        <p:spPr>
          <a:xfrm>
            <a:off x="9525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 b="1" dirty="0">
                <a:solidFill>
                  <a:srgbClr val="1F3A5F"/>
                </a:solidFill>
              </a:rPr>
              <a:t>Difficultés rencontrées et solutions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5044EF-76FF-BE47-836A-DD29992C1DAF}"/>
              </a:ext>
            </a:extLst>
          </p:cNvPr>
          <p:cNvSpPr txBox="1"/>
          <p:nvPr/>
        </p:nvSpPr>
        <p:spPr>
          <a:xfrm>
            <a:off x="10795000" y="381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dirty="0">
                <a:solidFill>
                  <a:srgbClr val="9CA3AF"/>
                </a:solidFill>
              </a:rPr>
              <a:t>8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13A049-1476-AB4E-9B73-2BB6ED032D94}"/>
              </a:ext>
            </a:extLst>
          </p:cNvPr>
          <p:cNvSpPr/>
          <p:nvPr/>
        </p:nvSpPr>
        <p:spPr>
          <a:xfrm>
            <a:off x="762000" y="889000"/>
            <a:ext cx="10668000" cy="127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65A1DE0-15C0-1243-8AE1-70EA32D14125}"/>
              </a:ext>
            </a:extLst>
          </p:cNvPr>
          <p:cNvSpPr txBox="1"/>
          <p:nvPr/>
        </p:nvSpPr>
        <p:spPr>
          <a:xfrm>
            <a:off x="762000" y="11176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i="1" dirty="0">
                <a:solidFill>
                  <a:srgbClr val="374151"/>
                </a:solidFill>
              </a:rPr>
              <a:t>Trois situations concrètes, ce qu'elles ont posé comme problème et la façon dont je les ai gérées.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774F55-DF47-A246-B9BC-BFA7B4C5A7CC}"/>
              </a:ext>
            </a:extLst>
          </p:cNvPr>
          <p:cNvSpPr/>
          <p:nvPr/>
        </p:nvSpPr>
        <p:spPr>
          <a:xfrm>
            <a:off x="762000" y="1651000"/>
            <a:ext cx="10668000" cy="14986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689263-A78D-0D46-B481-2B54C40DC081}"/>
              </a:ext>
            </a:extLst>
          </p:cNvPr>
          <p:cNvSpPr/>
          <p:nvPr/>
        </p:nvSpPr>
        <p:spPr>
          <a:xfrm>
            <a:off x="762000" y="1651000"/>
            <a:ext cx="711200" cy="14986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52BF6DA-0C84-2241-8EB9-2E302135EEEF}"/>
              </a:ext>
            </a:extLst>
          </p:cNvPr>
          <p:cNvSpPr txBox="1"/>
          <p:nvPr/>
        </p:nvSpPr>
        <p:spPr>
          <a:xfrm>
            <a:off x="762000" y="2171700"/>
            <a:ext cx="711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C055BFF-C681-064E-A460-B17958E6DA99}"/>
              </a:ext>
            </a:extLst>
          </p:cNvPr>
          <p:cNvSpPr txBox="1"/>
          <p:nvPr/>
        </p:nvSpPr>
        <p:spPr>
          <a:xfrm>
            <a:off x="1714500" y="18288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B91C1C"/>
                </a:solidFill>
              </a:rPr>
              <a:t>PROBLÈME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31CE2C8-084A-3F46-9A92-D3CB8B3D8969}"/>
              </a:ext>
            </a:extLst>
          </p:cNvPr>
          <p:cNvSpPr txBox="1"/>
          <p:nvPr/>
        </p:nvSpPr>
        <p:spPr>
          <a:xfrm>
            <a:off x="1714500" y="2082800"/>
            <a:ext cx="35560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 dirty="0">
                <a:solidFill>
                  <a:srgbClr val="1F2937"/>
                </a:solidFill>
              </a:rPr>
              <a:t>Code </a:t>
            </a:r>
            <a:r>
              <a:rPr lang="fr-FR" sz="1500" b="1" i="1" dirty="0" err="1">
                <a:solidFill>
                  <a:srgbClr val="1F2937"/>
                </a:solidFill>
              </a:rPr>
              <a:t>legacy</a:t>
            </a:r>
            <a:r>
              <a:rPr lang="fr-FR" sz="1500" b="1" dirty="0">
                <a:solidFill>
                  <a:srgbClr val="1F2937"/>
                </a:solidFill>
              </a:rPr>
              <a:t> relativement peu documenté</a:t>
            </a:r>
          </a:p>
        </p:txBody>
      </p:sp>
      <p:sp>
        <p:nvSpPr>
          <p:cNvPr id="12" name="Flèche vers la droite 11">
            <a:extLst>
              <a:ext uri="{FF2B5EF4-FFF2-40B4-BE49-F238E27FC236}">
                <a16:creationId xmlns:a16="http://schemas.microsoft.com/office/drawing/2014/main" id="{4A16E112-BAD7-3C49-BE7B-1B858715112B}"/>
              </a:ext>
            </a:extLst>
          </p:cNvPr>
          <p:cNvSpPr/>
          <p:nvPr/>
        </p:nvSpPr>
        <p:spPr>
          <a:xfrm>
            <a:off x="5397500" y="2286000"/>
            <a:ext cx="381000" cy="228600"/>
          </a:xfrm>
          <a:prstGeom prst="rightArrow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52DFA1E-F57F-5641-88D2-61F4A78436AF}"/>
              </a:ext>
            </a:extLst>
          </p:cNvPr>
          <p:cNvSpPr txBox="1"/>
          <p:nvPr/>
        </p:nvSpPr>
        <p:spPr>
          <a:xfrm>
            <a:off x="5969000" y="1828800"/>
            <a:ext cx="533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15803D"/>
                </a:solidFill>
              </a:rPr>
              <a:t>SOLUTION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33F36E6-6AAB-3947-9399-03540F3A59C8}"/>
              </a:ext>
            </a:extLst>
          </p:cNvPr>
          <p:cNvSpPr txBox="1"/>
          <p:nvPr/>
        </p:nvSpPr>
        <p:spPr>
          <a:xfrm>
            <a:off x="5969000" y="2082800"/>
            <a:ext cx="53340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374151"/>
                </a:solidFill>
              </a:rPr>
              <a:t>Cartographier l'existant en lisant et testant le code, puis capitaliser dans Confluence : workflows, lexique, schémas réutilisables par toute l'équipe.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9175BF-7675-394A-9B72-82A264520DFA}"/>
              </a:ext>
            </a:extLst>
          </p:cNvPr>
          <p:cNvSpPr/>
          <p:nvPr/>
        </p:nvSpPr>
        <p:spPr>
          <a:xfrm>
            <a:off x="762000" y="3276600"/>
            <a:ext cx="10668000" cy="14986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CECEDE-0C39-A544-8DF4-673ADC6EA82E}"/>
              </a:ext>
            </a:extLst>
          </p:cNvPr>
          <p:cNvSpPr/>
          <p:nvPr/>
        </p:nvSpPr>
        <p:spPr>
          <a:xfrm>
            <a:off x="762000" y="3276600"/>
            <a:ext cx="711200" cy="14986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96C3411-D1FA-C64A-A9B6-F174BCD71ADB}"/>
              </a:ext>
            </a:extLst>
          </p:cNvPr>
          <p:cNvSpPr txBox="1"/>
          <p:nvPr/>
        </p:nvSpPr>
        <p:spPr>
          <a:xfrm>
            <a:off x="762000" y="3797300"/>
            <a:ext cx="711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24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BBA3CA8-83DC-214D-8B0B-6B8CFFC49F70}"/>
              </a:ext>
            </a:extLst>
          </p:cNvPr>
          <p:cNvSpPr txBox="1"/>
          <p:nvPr/>
        </p:nvSpPr>
        <p:spPr>
          <a:xfrm>
            <a:off x="1714500" y="34544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B91C1C"/>
                </a:solidFill>
              </a:rPr>
              <a:t>PROBLÈME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9CC1D25-DBAC-5F43-80A2-5524780919C6}"/>
              </a:ext>
            </a:extLst>
          </p:cNvPr>
          <p:cNvSpPr txBox="1"/>
          <p:nvPr/>
        </p:nvSpPr>
        <p:spPr>
          <a:xfrm>
            <a:off x="1714500" y="3708400"/>
            <a:ext cx="35560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F2937"/>
                </a:solidFill>
              </a:rPr>
              <a:t>Pipeline CI/CD fragile</a:t>
            </a:r>
          </a:p>
        </p:txBody>
      </p:sp>
      <p:sp>
        <p:nvSpPr>
          <p:cNvPr id="20" name="Flèche vers la droite 19">
            <a:extLst>
              <a:ext uri="{FF2B5EF4-FFF2-40B4-BE49-F238E27FC236}">
                <a16:creationId xmlns:a16="http://schemas.microsoft.com/office/drawing/2014/main" id="{FC088DCC-38A6-C24E-9649-FAF1DB68DE84}"/>
              </a:ext>
            </a:extLst>
          </p:cNvPr>
          <p:cNvSpPr/>
          <p:nvPr/>
        </p:nvSpPr>
        <p:spPr>
          <a:xfrm>
            <a:off x="5397500" y="3911600"/>
            <a:ext cx="381000" cy="228600"/>
          </a:xfrm>
          <a:prstGeom prst="rightArrow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42D4F95-75C4-4643-BFC9-164EF0E07753}"/>
              </a:ext>
            </a:extLst>
          </p:cNvPr>
          <p:cNvSpPr txBox="1"/>
          <p:nvPr/>
        </p:nvSpPr>
        <p:spPr>
          <a:xfrm>
            <a:off x="5969000" y="3454400"/>
            <a:ext cx="533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15803D"/>
                </a:solidFill>
              </a:rPr>
              <a:t>SOLUTION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DBB6360-3F51-BD44-95F2-B9F7504CAF96}"/>
              </a:ext>
            </a:extLst>
          </p:cNvPr>
          <p:cNvSpPr txBox="1"/>
          <p:nvPr/>
        </p:nvSpPr>
        <p:spPr>
          <a:xfrm>
            <a:off x="5969000" y="3708400"/>
            <a:ext cx="53340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dirty="0">
                <a:solidFill>
                  <a:srgbClr val="374151"/>
                </a:solidFill>
              </a:rPr>
              <a:t>Diagnostic progressif et autonome : isoler l'étape qui échoue, lire les logs, tester une hypothèse à la fois.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0703D5-3FBF-9F44-A833-1CFE81DC26FA}"/>
              </a:ext>
            </a:extLst>
          </p:cNvPr>
          <p:cNvSpPr/>
          <p:nvPr/>
        </p:nvSpPr>
        <p:spPr>
          <a:xfrm>
            <a:off x="762000" y="4902200"/>
            <a:ext cx="10668000" cy="14986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718A6A-E3B5-9643-8690-AF5F23E108C0}"/>
              </a:ext>
            </a:extLst>
          </p:cNvPr>
          <p:cNvSpPr/>
          <p:nvPr/>
        </p:nvSpPr>
        <p:spPr>
          <a:xfrm>
            <a:off x="762000" y="4902200"/>
            <a:ext cx="711200" cy="14986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C0467E8-FAA1-264E-AAA3-87CFA1377B4D}"/>
              </a:ext>
            </a:extLst>
          </p:cNvPr>
          <p:cNvSpPr txBox="1"/>
          <p:nvPr/>
        </p:nvSpPr>
        <p:spPr>
          <a:xfrm>
            <a:off x="762000" y="5422900"/>
            <a:ext cx="711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6865CC8-E190-D64A-8443-54CE65812046}"/>
              </a:ext>
            </a:extLst>
          </p:cNvPr>
          <p:cNvSpPr txBox="1"/>
          <p:nvPr/>
        </p:nvSpPr>
        <p:spPr>
          <a:xfrm>
            <a:off x="1714500" y="50800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B91C1C"/>
                </a:solidFill>
              </a:rPr>
              <a:t>PROBLÈME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73B3A91-45C7-2D43-9A0D-00940864C3AA}"/>
              </a:ext>
            </a:extLst>
          </p:cNvPr>
          <p:cNvSpPr txBox="1"/>
          <p:nvPr/>
        </p:nvSpPr>
        <p:spPr>
          <a:xfrm>
            <a:off x="1714500" y="5334000"/>
            <a:ext cx="35560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F2937"/>
                </a:solidFill>
              </a:rPr>
              <a:t>Coordination avec plusieurs acteurs</a:t>
            </a:r>
          </a:p>
        </p:txBody>
      </p:sp>
      <p:sp>
        <p:nvSpPr>
          <p:cNvPr id="28" name="Flèche vers la droite 27">
            <a:extLst>
              <a:ext uri="{FF2B5EF4-FFF2-40B4-BE49-F238E27FC236}">
                <a16:creationId xmlns:a16="http://schemas.microsoft.com/office/drawing/2014/main" id="{7BC05DFC-B6CF-1344-8E87-D54DA32E863C}"/>
              </a:ext>
            </a:extLst>
          </p:cNvPr>
          <p:cNvSpPr/>
          <p:nvPr/>
        </p:nvSpPr>
        <p:spPr>
          <a:xfrm>
            <a:off x="5397500" y="5537200"/>
            <a:ext cx="381000" cy="228600"/>
          </a:xfrm>
          <a:prstGeom prst="rightArrow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AEBDB29-B7AD-234F-9BA1-17C4E63BFC06}"/>
              </a:ext>
            </a:extLst>
          </p:cNvPr>
          <p:cNvSpPr txBox="1"/>
          <p:nvPr/>
        </p:nvSpPr>
        <p:spPr>
          <a:xfrm>
            <a:off x="5969000" y="5080000"/>
            <a:ext cx="533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15803D"/>
                </a:solidFill>
              </a:rPr>
              <a:t>SOLUTION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949650D-0A92-8D4F-A014-1CDD0251AEE9}"/>
              </a:ext>
            </a:extLst>
          </p:cNvPr>
          <p:cNvSpPr txBox="1"/>
          <p:nvPr/>
        </p:nvSpPr>
        <p:spPr>
          <a:xfrm>
            <a:off x="5969000" y="5334000"/>
            <a:ext cx="53340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374151"/>
                </a:solidFill>
              </a:rPr>
              <a:t>Synchronisation régulière avec les développeurs Intelcia et l'interlocutrice métier, points fréquents avec ma tutrice et formalisation des décisions dans Confluence pour garder une trace partagée.</a:t>
            </a:r>
          </a:p>
        </p:txBody>
      </p:sp>
    </p:spTree>
    <p:extLst>
      <p:ext uri="{BB962C8B-B14F-4D97-AF65-F5344CB8AC3E}">
        <p14:creationId xmlns:p14="http://schemas.microsoft.com/office/powerpoint/2010/main" val="693567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8" grpId="0"/>
      <p:bldP spid="19" grpId="0"/>
      <p:bldP spid="21" grpId="0"/>
      <p:bldP spid="22" grpId="0"/>
      <p:bldP spid="26" grpId="0"/>
      <p:bldP spid="27" grpId="0"/>
      <p:bldP spid="2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F51F6-5E4A-C449-88C5-46D667E2875C}"/>
              </a:ext>
            </a:extLst>
          </p:cNvPr>
          <p:cNvSpPr/>
          <p:nvPr/>
        </p:nvSpPr>
        <p:spPr>
          <a:xfrm>
            <a:off x="762000" y="355600"/>
            <a:ext cx="63500" cy="406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9D82A2-D1C2-054A-9412-F777A66B7458}"/>
              </a:ext>
            </a:extLst>
          </p:cNvPr>
          <p:cNvSpPr txBox="1"/>
          <p:nvPr/>
        </p:nvSpPr>
        <p:spPr>
          <a:xfrm>
            <a:off x="9525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 b="1" dirty="0">
                <a:solidFill>
                  <a:srgbClr val="1F3A5F"/>
                </a:solidFill>
              </a:rPr>
              <a:t>Compétences acquises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A3C26DB-B524-8C4E-8FE9-0C9B7AA55199}"/>
              </a:ext>
            </a:extLst>
          </p:cNvPr>
          <p:cNvSpPr txBox="1"/>
          <p:nvPr/>
        </p:nvSpPr>
        <p:spPr>
          <a:xfrm>
            <a:off x="10795000" y="381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dirty="0">
                <a:solidFill>
                  <a:srgbClr val="9CA3AF"/>
                </a:solidFill>
              </a:rPr>
              <a:t>9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2E93B1-6151-4A4B-B8B5-B65EF8D427F1}"/>
              </a:ext>
            </a:extLst>
          </p:cNvPr>
          <p:cNvSpPr/>
          <p:nvPr/>
        </p:nvSpPr>
        <p:spPr>
          <a:xfrm>
            <a:off x="762000" y="889000"/>
            <a:ext cx="10668000" cy="127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2341175-3D29-5C45-8FE4-4FE4790E8CA0}"/>
              </a:ext>
            </a:extLst>
          </p:cNvPr>
          <p:cNvSpPr txBox="1"/>
          <p:nvPr/>
        </p:nvSpPr>
        <p:spPr>
          <a:xfrm>
            <a:off x="762000" y="11176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i="1">
                <a:solidFill>
                  <a:srgbClr val="374151"/>
                </a:solidFill>
              </a:rPr>
              <a:t>Deux familles de compétences renforcées au fil des lots : un socle technique élargi et des aptitudes de pilotage.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9DE3A2-494C-AB49-B6A0-0A4CE5EB3961}"/>
              </a:ext>
            </a:extLst>
          </p:cNvPr>
          <p:cNvSpPr/>
          <p:nvPr/>
        </p:nvSpPr>
        <p:spPr>
          <a:xfrm>
            <a:off x="762000" y="1651000"/>
            <a:ext cx="5143500" cy="482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3F8B89-53C0-464F-83E1-A64D4CDE5D23}"/>
              </a:ext>
            </a:extLst>
          </p:cNvPr>
          <p:cNvSpPr/>
          <p:nvPr/>
        </p:nvSpPr>
        <p:spPr>
          <a:xfrm>
            <a:off x="762000" y="1651000"/>
            <a:ext cx="5143500" cy="5588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054FFBE-F3F9-BB40-98E9-D40C80E1FD54}"/>
              </a:ext>
            </a:extLst>
          </p:cNvPr>
          <p:cNvSpPr txBox="1"/>
          <p:nvPr/>
        </p:nvSpPr>
        <p:spPr>
          <a:xfrm>
            <a:off x="762000" y="1778000"/>
            <a:ext cx="514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</a:rPr>
              <a:t>Compétences techniques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EDED982-34BC-134F-B916-DB85C2F0CBA8}"/>
              </a:ext>
            </a:extLst>
          </p:cNvPr>
          <p:cNvSpPr/>
          <p:nvPr/>
        </p:nvSpPr>
        <p:spPr>
          <a:xfrm>
            <a:off x="1041400" y="2565400"/>
            <a:ext cx="101600" cy="1016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D9E8EA2-C48D-1F4B-BA2B-CF8CFFF37AB4}"/>
              </a:ext>
            </a:extLst>
          </p:cNvPr>
          <p:cNvSpPr txBox="1"/>
          <p:nvPr/>
        </p:nvSpPr>
        <p:spPr>
          <a:xfrm>
            <a:off x="1295400" y="2476500"/>
            <a:ext cx="4330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F2937"/>
                </a:solidFill>
              </a:rPr>
              <a:t>Développement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518ED91-70FD-EA4E-A50B-715E3ED15C39}"/>
              </a:ext>
            </a:extLst>
          </p:cNvPr>
          <p:cNvSpPr txBox="1"/>
          <p:nvPr/>
        </p:nvSpPr>
        <p:spPr>
          <a:xfrm>
            <a:off x="1295400" y="2781300"/>
            <a:ext cx="43307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Java, scripting KSH, SQL Oracle.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FA5A635-15D4-434D-A98A-DFAC235EF60D}"/>
              </a:ext>
            </a:extLst>
          </p:cNvPr>
          <p:cNvSpPr/>
          <p:nvPr/>
        </p:nvSpPr>
        <p:spPr>
          <a:xfrm>
            <a:off x="1041400" y="3517900"/>
            <a:ext cx="101600" cy="1016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0F45531-CC2E-4B49-8EA4-7E8399D07DC9}"/>
              </a:ext>
            </a:extLst>
          </p:cNvPr>
          <p:cNvSpPr txBox="1"/>
          <p:nvPr/>
        </p:nvSpPr>
        <p:spPr>
          <a:xfrm>
            <a:off x="1295400" y="3429000"/>
            <a:ext cx="4330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 dirty="0">
                <a:solidFill>
                  <a:srgbClr val="1F2937"/>
                </a:solidFill>
              </a:rPr>
              <a:t>Middleware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E3311E2-6314-0E42-AB54-40BC7FBC7243}"/>
              </a:ext>
            </a:extLst>
          </p:cNvPr>
          <p:cNvSpPr txBox="1"/>
          <p:nvPr/>
        </p:nvSpPr>
        <p:spPr>
          <a:xfrm>
            <a:off x="1295400" y="3733800"/>
            <a:ext cx="43307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IBM MQ en désengagement, Apache Kafka en montée en charge.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1AECCF9-D338-EE44-9308-7AE219145E51}"/>
              </a:ext>
            </a:extLst>
          </p:cNvPr>
          <p:cNvSpPr/>
          <p:nvPr/>
        </p:nvSpPr>
        <p:spPr>
          <a:xfrm>
            <a:off x="1041400" y="4470400"/>
            <a:ext cx="101600" cy="1016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A89B30F-4E74-6043-94C7-8E3EDFA9F564}"/>
              </a:ext>
            </a:extLst>
          </p:cNvPr>
          <p:cNvSpPr txBox="1"/>
          <p:nvPr/>
        </p:nvSpPr>
        <p:spPr>
          <a:xfrm>
            <a:off x="1295400" y="4381500"/>
            <a:ext cx="4330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F2937"/>
                </a:solidFill>
              </a:rPr>
              <a:t>DevOps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E17031D-5B85-E447-BB44-8047804F411C}"/>
              </a:ext>
            </a:extLst>
          </p:cNvPr>
          <p:cNvSpPr txBox="1"/>
          <p:nvPr/>
        </p:nvSpPr>
        <p:spPr>
          <a:xfrm>
            <a:off x="1295400" y="4686300"/>
            <a:ext cx="43307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dirty="0">
                <a:solidFill>
                  <a:srgbClr val="4B5563"/>
                </a:solidFill>
              </a:rPr>
              <a:t>Git, </a:t>
            </a:r>
            <a:r>
              <a:rPr lang="fr-FR" sz="1300" dirty="0" err="1">
                <a:solidFill>
                  <a:srgbClr val="4B5563"/>
                </a:solidFill>
              </a:rPr>
              <a:t>GitLab</a:t>
            </a:r>
            <a:r>
              <a:rPr lang="fr-FR" sz="1300" dirty="0">
                <a:solidFill>
                  <a:srgbClr val="4B5563"/>
                </a:solidFill>
              </a:rPr>
              <a:t> CI/CD et déblocage de pipeline.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276DAD43-95F1-1043-B297-546786C771DE}"/>
              </a:ext>
            </a:extLst>
          </p:cNvPr>
          <p:cNvSpPr/>
          <p:nvPr/>
        </p:nvSpPr>
        <p:spPr>
          <a:xfrm>
            <a:off x="1041400" y="5422900"/>
            <a:ext cx="101600" cy="1016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BB5D44F-7023-F545-ABBF-0D12A8778424}"/>
              </a:ext>
            </a:extLst>
          </p:cNvPr>
          <p:cNvSpPr txBox="1"/>
          <p:nvPr/>
        </p:nvSpPr>
        <p:spPr>
          <a:xfrm>
            <a:off x="1295400" y="5334000"/>
            <a:ext cx="4330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 dirty="0">
                <a:solidFill>
                  <a:srgbClr val="1F2937"/>
                </a:solidFill>
              </a:rPr>
              <a:t>Écosystème télécom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3D2EE6E-071F-AF48-8531-5A046D661F7C}"/>
              </a:ext>
            </a:extLst>
          </p:cNvPr>
          <p:cNvSpPr txBox="1"/>
          <p:nvPr/>
        </p:nvSpPr>
        <p:spPr>
          <a:xfrm>
            <a:off x="1295400" y="5638800"/>
            <a:ext cx="43307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dirty="0">
                <a:solidFill>
                  <a:srgbClr val="4B5563"/>
                </a:solidFill>
              </a:rPr>
              <a:t>PNM, gestion MSISDN (numéros mobiles), RIO, SI Réseau, SI commercial.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F0010D-FC79-D34E-9FA4-4FA53A6D2E59}"/>
              </a:ext>
            </a:extLst>
          </p:cNvPr>
          <p:cNvSpPr/>
          <p:nvPr/>
        </p:nvSpPr>
        <p:spPr>
          <a:xfrm>
            <a:off x="6286500" y="1651000"/>
            <a:ext cx="5143500" cy="482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8CFBD1-FF0F-294F-A14D-F658244D7139}"/>
              </a:ext>
            </a:extLst>
          </p:cNvPr>
          <p:cNvSpPr/>
          <p:nvPr/>
        </p:nvSpPr>
        <p:spPr>
          <a:xfrm>
            <a:off x="6286500" y="1651000"/>
            <a:ext cx="5143500" cy="5588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C50D691-41CC-EA4E-A4F3-2B5BA009F9EA}"/>
              </a:ext>
            </a:extLst>
          </p:cNvPr>
          <p:cNvSpPr txBox="1"/>
          <p:nvPr/>
        </p:nvSpPr>
        <p:spPr>
          <a:xfrm>
            <a:off x="6286500" y="1778000"/>
            <a:ext cx="514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</a:rPr>
              <a:t>Compétences transverses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221C215D-595D-2242-95D7-FF4756AB492F}"/>
              </a:ext>
            </a:extLst>
          </p:cNvPr>
          <p:cNvSpPr/>
          <p:nvPr/>
        </p:nvSpPr>
        <p:spPr>
          <a:xfrm>
            <a:off x="6565900" y="2565400"/>
            <a:ext cx="101600" cy="101600"/>
          </a:xfrm>
          <a:prstGeom prst="ellipse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5F9F5AE-9E12-F44B-9371-39F06E220479}"/>
              </a:ext>
            </a:extLst>
          </p:cNvPr>
          <p:cNvSpPr txBox="1"/>
          <p:nvPr/>
        </p:nvSpPr>
        <p:spPr>
          <a:xfrm>
            <a:off x="6819900" y="2476500"/>
            <a:ext cx="4330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F2937"/>
                </a:solidFill>
              </a:rPr>
              <a:t>Gestion de projet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FEC3C95-D419-B74F-9AC7-A40DEA154662}"/>
              </a:ext>
            </a:extLst>
          </p:cNvPr>
          <p:cNvSpPr txBox="1"/>
          <p:nvPr/>
        </p:nvSpPr>
        <p:spPr>
          <a:xfrm>
            <a:off x="6819900" y="2781300"/>
            <a:ext cx="43307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Analyse, chiffrage, suivi Jira, livraison par lots.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932AC6EC-19DD-924C-A954-46DDF725DB0E}"/>
              </a:ext>
            </a:extLst>
          </p:cNvPr>
          <p:cNvSpPr/>
          <p:nvPr/>
        </p:nvSpPr>
        <p:spPr>
          <a:xfrm>
            <a:off x="6565900" y="3517900"/>
            <a:ext cx="101600" cy="101600"/>
          </a:xfrm>
          <a:prstGeom prst="ellipse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57D7059-DBA2-3540-B607-AF47EE88C919}"/>
              </a:ext>
            </a:extLst>
          </p:cNvPr>
          <p:cNvSpPr txBox="1"/>
          <p:nvPr/>
        </p:nvSpPr>
        <p:spPr>
          <a:xfrm>
            <a:off x="6819900" y="3429000"/>
            <a:ext cx="4330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F2937"/>
                </a:solidFill>
              </a:rPr>
              <a:t>Autonomie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2CA1E5E-DC69-0C47-84BE-319DA40CE921}"/>
              </a:ext>
            </a:extLst>
          </p:cNvPr>
          <p:cNvSpPr txBox="1"/>
          <p:nvPr/>
        </p:nvSpPr>
        <p:spPr>
          <a:xfrm>
            <a:off x="6819900" y="3733800"/>
            <a:ext cx="43307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Investigation indépendante des problèmes techniques.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7A14330C-B7B6-0747-A7A5-350EC2C0A7DC}"/>
              </a:ext>
            </a:extLst>
          </p:cNvPr>
          <p:cNvSpPr/>
          <p:nvPr/>
        </p:nvSpPr>
        <p:spPr>
          <a:xfrm>
            <a:off x="6565900" y="4470400"/>
            <a:ext cx="101600" cy="101600"/>
          </a:xfrm>
          <a:prstGeom prst="ellipse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03EB083-35C5-BC4E-AEF0-07EEAEB6F926}"/>
              </a:ext>
            </a:extLst>
          </p:cNvPr>
          <p:cNvSpPr txBox="1"/>
          <p:nvPr/>
        </p:nvSpPr>
        <p:spPr>
          <a:xfrm>
            <a:off x="6819900" y="4381500"/>
            <a:ext cx="4330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F2937"/>
                </a:solidFill>
              </a:rPr>
              <a:t>Communication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33C8EE0-765C-2247-9B91-DF603CBE67A2}"/>
              </a:ext>
            </a:extLst>
          </p:cNvPr>
          <p:cNvSpPr txBox="1"/>
          <p:nvPr/>
        </p:nvSpPr>
        <p:spPr>
          <a:xfrm>
            <a:off x="6819900" y="4686300"/>
            <a:ext cx="43307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Daily, COPRO, échanges avec les partenaires Intelcia.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31E6DF60-8479-C647-AA0D-AFE69D1D68FD}"/>
              </a:ext>
            </a:extLst>
          </p:cNvPr>
          <p:cNvSpPr/>
          <p:nvPr/>
        </p:nvSpPr>
        <p:spPr>
          <a:xfrm>
            <a:off x="6565900" y="5422900"/>
            <a:ext cx="101600" cy="101600"/>
          </a:xfrm>
          <a:prstGeom prst="ellipse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35D4C00-585E-AD44-B38A-7BAD0EFC7559}"/>
              </a:ext>
            </a:extLst>
          </p:cNvPr>
          <p:cNvSpPr txBox="1"/>
          <p:nvPr/>
        </p:nvSpPr>
        <p:spPr>
          <a:xfrm>
            <a:off x="6819900" y="5334000"/>
            <a:ext cx="4330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F2937"/>
                </a:solidFill>
              </a:rPr>
              <a:t>Reporting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CC52AE9-61A7-3346-AC4D-79B48132DDF0}"/>
              </a:ext>
            </a:extLst>
          </p:cNvPr>
          <p:cNvSpPr txBox="1"/>
          <p:nvPr/>
        </p:nvSpPr>
        <p:spPr>
          <a:xfrm>
            <a:off x="6819900" y="5638800"/>
            <a:ext cx="43307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Compte-rendu hebdomadaire clair pour ma tutrice.</a:t>
            </a:r>
          </a:p>
        </p:txBody>
      </p:sp>
    </p:spTree>
    <p:extLst>
      <p:ext uri="{BB962C8B-B14F-4D97-AF65-F5344CB8AC3E}">
        <p14:creationId xmlns:p14="http://schemas.microsoft.com/office/powerpoint/2010/main" val="347018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C67A34-541F-C849-9626-E57C712FC467}"/>
              </a:ext>
            </a:extLst>
          </p:cNvPr>
          <p:cNvSpPr/>
          <p:nvPr/>
        </p:nvSpPr>
        <p:spPr>
          <a:xfrm>
            <a:off x="762000" y="355600"/>
            <a:ext cx="63500" cy="406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4ED6010-BB64-A543-8E38-C186686369CA}"/>
              </a:ext>
            </a:extLst>
          </p:cNvPr>
          <p:cNvSpPr txBox="1"/>
          <p:nvPr/>
        </p:nvSpPr>
        <p:spPr>
          <a:xfrm>
            <a:off x="9525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 b="1" dirty="0">
                <a:solidFill>
                  <a:srgbClr val="1F3A5F"/>
                </a:solidFill>
              </a:rPr>
              <a:t>Ce que la formation MIAGE m'a apporté sur le terrain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85CF5AD-9A44-9E48-A607-908C0686ED9D}"/>
              </a:ext>
            </a:extLst>
          </p:cNvPr>
          <p:cNvSpPr txBox="1"/>
          <p:nvPr/>
        </p:nvSpPr>
        <p:spPr>
          <a:xfrm>
            <a:off x="10795000" y="381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dirty="0">
                <a:solidFill>
                  <a:srgbClr val="9CA3AF"/>
                </a:solidFill>
              </a:rPr>
              <a:t>10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2A7BC-5AB3-534C-BF63-C4E6EE335B68}"/>
              </a:ext>
            </a:extLst>
          </p:cNvPr>
          <p:cNvSpPr/>
          <p:nvPr/>
        </p:nvSpPr>
        <p:spPr>
          <a:xfrm>
            <a:off x="762000" y="889000"/>
            <a:ext cx="10668000" cy="127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E037AD8-F0AA-134D-96DE-538B09117E32}"/>
              </a:ext>
            </a:extLst>
          </p:cNvPr>
          <p:cNvSpPr txBox="1"/>
          <p:nvPr/>
        </p:nvSpPr>
        <p:spPr>
          <a:xfrm>
            <a:off x="762000" y="11176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i="1">
                <a:solidFill>
                  <a:srgbClr val="374151"/>
                </a:solidFill>
              </a:rPr>
              <a:t>Quatre enseignements du M1 retrouvés directement dans mes missions.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FBE5CB-397C-864A-BAEB-97AD69A9FB06}"/>
              </a:ext>
            </a:extLst>
          </p:cNvPr>
          <p:cNvSpPr/>
          <p:nvPr/>
        </p:nvSpPr>
        <p:spPr>
          <a:xfrm>
            <a:off x="762000" y="1587500"/>
            <a:ext cx="10668000" cy="11430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C974F1-5D28-A048-8368-0AFBE0D466A6}"/>
              </a:ext>
            </a:extLst>
          </p:cNvPr>
          <p:cNvSpPr/>
          <p:nvPr/>
        </p:nvSpPr>
        <p:spPr>
          <a:xfrm>
            <a:off x="762000" y="1587500"/>
            <a:ext cx="63500" cy="11430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D52FE332-98EE-C84B-8DB0-0D7CEB888AA6}"/>
              </a:ext>
            </a:extLst>
          </p:cNvPr>
          <p:cNvSpPr/>
          <p:nvPr/>
        </p:nvSpPr>
        <p:spPr>
          <a:xfrm>
            <a:off x="1016000" y="1841500"/>
            <a:ext cx="635000" cy="635000"/>
          </a:xfrm>
          <a:prstGeom prst="round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2200" b="1" dirty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88AE305-FBD0-8948-A82E-314A4A451365}"/>
              </a:ext>
            </a:extLst>
          </p:cNvPr>
          <p:cNvSpPr txBox="1"/>
          <p:nvPr/>
        </p:nvSpPr>
        <p:spPr>
          <a:xfrm>
            <a:off x="1879600" y="1765300"/>
            <a:ext cx="406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B91C1C"/>
                </a:solidFill>
              </a:rPr>
              <a:t>ENSEIGNEMENT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2153EDC-704E-8740-AEE5-C32DC5FF996C}"/>
              </a:ext>
            </a:extLst>
          </p:cNvPr>
          <p:cNvSpPr txBox="1"/>
          <p:nvPr/>
        </p:nvSpPr>
        <p:spPr>
          <a:xfrm>
            <a:off x="1879600" y="1993900"/>
            <a:ext cx="406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 dirty="0">
                <a:solidFill>
                  <a:srgbClr val="1F2937"/>
                </a:solidFill>
              </a:rPr>
              <a:t>« Programmation Avancée »</a:t>
            </a:r>
          </a:p>
        </p:txBody>
      </p:sp>
      <p:sp>
        <p:nvSpPr>
          <p:cNvPr id="12" name="Flèche vers la droite 11">
            <a:extLst>
              <a:ext uri="{FF2B5EF4-FFF2-40B4-BE49-F238E27FC236}">
                <a16:creationId xmlns:a16="http://schemas.microsoft.com/office/drawing/2014/main" id="{FEC71CB3-A89F-EA4F-81C1-09E2B30AB874}"/>
              </a:ext>
            </a:extLst>
          </p:cNvPr>
          <p:cNvSpPr/>
          <p:nvPr/>
        </p:nvSpPr>
        <p:spPr>
          <a:xfrm>
            <a:off x="5422901" y="2087784"/>
            <a:ext cx="330200" cy="203200"/>
          </a:xfrm>
          <a:prstGeom prst="rightArrow">
            <a:avLst/>
          </a:prstGeom>
          <a:solidFill>
            <a:srgbClr val="9CA3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313DDC4-1B67-2E4F-A762-35DB019A1704}"/>
              </a:ext>
            </a:extLst>
          </p:cNvPr>
          <p:cNvSpPr txBox="1"/>
          <p:nvPr/>
        </p:nvSpPr>
        <p:spPr>
          <a:xfrm>
            <a:off x="6604000" y="17653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15803D"/>
                </a:solidFill>
              </a:rPr>
              <a:t>APPLICATION TERRAIN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02016AB-12BA-AA48-99FC-9B097948C5B9}"/>
              </a:ext>
            </a:extLst>
          </p:cNvPr>
          <p:cNvSpPr txBox="1"/>
          <p:nvPr/>
        </p:nvSpPr>
        <p:spPr>
          <a:xfrm>
            <a:off x="6604000" y="1993900"/>
            <a:ext cx="469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dirty="0" err="1">
                <a:solidFill>
                  <a:srgbClr val="374151"/>
                </a:solidFill>
              </a:rPr>
              <a:t>Refactoring</a:t>
            </a:r>
            <a:r>
              <a:rPr lang="fr-FR" sz="1300" dirty="0">
                <a:solidFill>
                  <a:srgbClr val="374151"/>
                </a:solidFill>
              </a:rPr>
              <a:t> du code Java lors du Lot 2 : repérer les motifs (Singleton, Repository…), isoler les responsabilités, simplifier sans casser.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4F63B9-8B8D-B349-9B5C-645B4F969607}"/>
              </a:ext>
            </a:extLst>
          </p:cNvPr>
          <p:cNvSpPr/>
          <p:nvPr/>
        </p:nvSpPr>
        <p:spPr>
          <a:xfrm>
            <a:off x="762000" y="2832100"/>
            <a:ext cx="63500" cy="11430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11EE4A9-A399-2046-B93A-E6598E3AF3ED}"/>
              </a:ext>
            </a:extLst>
          </p:cNvPr>
          <p:cNvSpPr/>
          <p:nvPr/>
        </p:nvSpPr>
        <p:spPr>
          <a:xfrm>
            <a:off x="1016000" y="3086100"/>
            <a:ext cx="635000" cy="635000"/>
          </a:xfrm>
          <a:prstGeom prst="round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22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8F6214F-0900-9446-BBF6-1ABA2DC9D37C}"/>
              </a:ext>
            </a:extLst>
          </p:cNvPr>
          <p:cNvSpPr txBox="1"/>
          <p:nvPr/>
        </p:nvSpPr>
        <p:spPr>
          <a:xfrm>
            <a:off x="1879600" y="3009900"/>
            <a:ext cx="406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B91C1C"/>
                </a:solidFill>
              </a:rPr>
              <a:t>ENSEIGNEMENT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10C0047-E955-304F-BC0E-0A2414C0AD12}"/>
              </a:ext>
            </a:extLst>
          </p:cNvPr>
          <p:cNvSpPr txBox="1"/>
          <p:nvPr/>
        </p:nvSpPr>
        <p:spPr>
          <a:xfrm>
            <a:off x="1879600" y="3238500"/>
            <a:ext cx="406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 dirty="0">
                <a:solidFill>
                  <a:srgbClr val="1F2937"/>
                </a:solidFill>
              </a:rPr>
              <a:t>« Gestion de Projet »</a:t>
            </a:r>
          </a:p>
        </p:txBody>
      </p:sp>
      <p:sp>
        <p:nvSpPr>
          <p:cNvPr id="20" name="Flèche vers la droite 19">
            <a:extLst>
              <a:ext uri="{FF2B5EF4-FFF2-40B4-BE49-F238E27FC236}">
                <a16:creationId xmlns:a16="http://schemas.microsoft.com/office/drawing/2014/main" id="{B69646E3-3E65-0347-B699-478C9EEB7426}"/>
              </a:ext>
            </a:extLst>
          </p:cNvPr>
          <p:cNvSpPr/>
          <p:nvPr/>
        </p:nvSpPr>
        <p:spPr>
          <a:xfrm>
            <a:off x="5422901" y="3332384"/>
            <a:ext cx="330200" cy="203200"/>
          </a:xfrm>
          <a:prstGeom prst="rightArrow">
            <a:avLst/>
          </a:prstGeom>
          <a:solidFill>
            <a:srgbClr val="9CA3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6E39330-F72C-6743-94E2-CF744D39C06B}"/>
              </a:ext>
            </a:extLst>
          </p:cNvPr>
          <p:cNvSpPr txBox="1"/>
          <p:nvPr/>
        </p:nvSpPr>
        <p:spPr>
          <a:xfrm>
            <a:off x="6604000" y="30099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15803D"/>
                </a:solidFill>
              </a:rPr>
              <a:t>APPLICATION TERRAIN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F347F9F-7C72-924A-9136-6AE430349B0E}"/>
              </a:ext>
            </a:extLst>
          </p:cNvPr>
          <p:cNvSpPr txBox="1"/>
          <p:nvPr/>
        </p:nvSpPr>
        <p:spPr>
          <a:xfrm>
            <a:off x="6604000" y="3238500"/>
            <a:ext cx="469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374151"/>
                </a:solidFill>
              </a:rPr>
              <a:t>Tenue des rituels d'équipe, macrochiffrage du Lot 1, suivi Jira et reporting hebdomadaire à ma tutrice.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559966-92A6-8B45-9222-5CEACF99322B}"/>
              </a:ext>
            </a:extLst>
          </p:cNvPr>
          <p:cNvSpPr/>
          <p:nvPr/>
        </p:nvSpPr>
        <p:spPr>
          <a:xfrm>
            <a:off x="762000" y="4076700"/>
            <a:ext cx="10668000" cy="11430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3534EB-4F9B-964E-9861-68952AB93B83}"/>
              </a:ext>
            </a:extLst>
          </p:cNvPr>
          <p:cNvSpPr/>
          <p:nvPr/>
        </p:nvSpPr>
        <p:spPr>
          <a:xfrm>
            <a:off x="762000" y="4076700"/>
            <a:ext cx="63500" cy="11430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2531D1F3-00D2-6343-9DD9-48F52AADF71E}"/>
              </a:ext>
            </a:extLst>
          </p:cNvPr>
          <p:cNvSpPr/>
          <p:nvPr/>
        </p:nvSpPr>
        <p:spPr>
          <a:xfrm>
            <a:off x="1016000" y="4330700"/>
            <a:ext cx="635000" cy="635000"/>
          </a:xfrm>
          <a:prstGeom prst="round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22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5225DA1-A9AF-FF4B-AF79-6C7337BB1BAB}"/>
              </a:ext>
            </a:extLst>
          </p:cNvPr>
          <p:cNvSpPr txBox="1"/>
          <p:nvPr/>
        </p:nvSpPr>
        <p:spPr>
          <a:xfrm>
            <a:off x="1879600" y="4254500"/>
            <a:ext cx="406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B91C1C"/>
                </a:solidFill>
              </a:rPr>
              <a:t>ENSEIGNEMENT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2ABF084-0B0A-FD43-A150-F92A2B2B7551}"/>
              </a:ext>
            </a:extLst>
          </p:cNvPr>
          <p:cNvSpPr txBox="1"/>
          <p:nvPr/>
        </p:nvSpPr>
        <p:spPr>
          <a:xfrm>
            <a:off x="1879600" y="4483100"/>
            <a:ext cx="406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 dirty="0">
                <a:solidFill>
                  <a:srgbClr val="1F2937"/>
                </a:solidFill>
              </a:rPr>
              <a:t>« Développement des SI Décisionnels » </a:t>
            </a:r>
            <a:br>
              <a:rPr lang="fr-FR" sz="1400" b="1" dirty="0">
                <a:solidFill>
                  <a:srgbClr val="1F2937"/>
                </a:solidFill>
              </a:rPr>
            </a:br>
            <a:r>
              <a:rPr lang="fr-FR" sz="1400" b="1" dirty="0">
                <a:solidFill>
                  <a:srgbClr val="1F2937"/>
                </a:solidFill>
              </a:rPr>
              <a:t>(module Big Data)</a:t>
            </a:r>
          </a:p>
        </p:txBody>
      </p:sp>
      <p:sp>
        <p:nvSpPr>
          <p:cNvPr id="28" name="Flèche vers la droite 27">
            <a:extLst>
              <a:ext uri="{FF2B5EF4-FFF2-40B4-BE49-F238E27FC236}">
                <a16:creationId xmlns:a16="http://schemas.microsoft.com/office/drawing/2014/main" id="{88D9A521-4D97-324B-BE2D-F6C96399CB6C}"/>
              </a:ext>
            </a:extLst>
          </p:cNvPr>
          <p:cNvSpPr/>
          <p:nvPr/>
        </p:nvSpPr>
        <p:spPr>
          <a:xfrm>
            <a:off x="5422901" y="4576984"/>
            <a:ext cx="330200" cy="203200"/>
          </a:xfrm>
          <a:prstGeom prst="rightArrow">
            <a:avLst/>
          </a:prstGeom>
          <a:solidFill>
            <a:srgbClr val="9CA3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280A2D6-1577-BB4B-B8A7-BD1ABD405B73}"/>
              </a:ext>
            </a:extLst>
          </p:cNvPr>
          <p:cNvSpPr txBox="1"/>
          <p:nvPr/>
        </p:nvSpPr>
        <p:spPr>
          <a:xfrm>
            <a:off x="6604000" y="42545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15803D"/>
                </a:solidFill>
              </a:rPr>
              <a:t>APPLICATION TERRAIN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F107C1F-EBC1-F440-8DF1-E54F123F660F}"/>
              </a:ext>
            </a:extLst>
          </p:cNvPr>
          <p:cNvSpPr txBox="1"/>
          <p:nvPr/>
        </p:nvSpPr>
        <p:spPr>
          <a:xfrm>
            <a:off x="6604000" y="4483100"/>
            <a:ext cx="469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dirty="0">
                <a:solidFill>
                  <a:srgbClr val="374151"/>
                </a:solidFill>
              </a:rPr>
              <a:t>Conception des flux Kafka du Lot 3 : modélisation des échanges entre BPS et PNM SRR.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9CEC5C-BBA1-0447-8CEF-DFF9506D2B15}"/>
              </a:ext>
            </a:extLst>
          </p:cNvPr>
          <p:cNvSpPr/>
          <p:nvPr/>
        </p:nvSpPr>
        <p:spPr>
          <a:xfrm>
            <a:off x="762000" y="5321300"/>
            <a:ext cx="10668000" cy="11430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D06281-16AE-424F-AFF1-5FDDDFD876A6}"/>
              </a:ext>
            </a:extLst>
          </p:cNvPr>
          <p:cNvSpPr/>
          <p:nvPr/>
        </p:nvSpPr>
        <p:spPr>
          <a:xfrm>
            <a:off x="762000" y="5321300"/>
            <a:ext cx="63500" cy="11430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BFA50720-F3EF-FE46-8764-14D68A20C0C3}"/>
              </a:ext>
            </a:extLst>
          </p:cNvPr>
          <p:cNvSpPr/>
          <p:nvPr/>
        </p:nvSpPr>
        <p:spPr>
          <a:xfrm>
            <a:off x="1016000" y="5575300"/>
            <a:ext cx="635000" cy="635000"/>
          </a:xfrm>
          <a:prstGeom prst="round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22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B659C91-B981-4A43-A37E-3ADC6DA2516F}"/>
              </a:ext>
            </a:extLst>
          </p:cNvPr>
          <p:cNvSpPr txBox="1"/>
          <p:nvPr/>
        </p:nvSpPr>
        <p:spPr>
          <a:xfrm>
            <a:off x="1879600" y="5499100"/>
            <a:ext cx="406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B91C1C"/>
                </a:solidFill>
              </a:rPr>
              <a:t>ENSEIGNEMENT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72F21087-783C-BC4E-ABD0-BB6420AB2074}"/>
              </a:ext>
            </a:extLst>
          </p:cNvPr>
          <p:cNvSpPr txBox="1"/>
          <p:nvPr/>
        </p:nvSpPr>
        <p:spPr>
          <a:xfrm>
            <a:off x="1879600" y="5727700"/>
            <a:ext cx="406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 dirty="0">
                <a:solidFill>
                  <a:srgbClr val="1F2937"/>
                </a:solidFill>
              </a:rPr>
              <a:t>« Bases de Données Avancées »</a:t>
            </a:r>
          </a:p>
        </p:txBody>
      </p:sp>
      <p:sp>
        <p:nvSpPr>
          <p:cNvPr id="36" name="Flèche vers la droite 35">
            <a:extLst>
              <a:ext uri="{FF2B5EF4-FFF2-40B4-BE49-F238E27FC236}">
                <a16:creationId xmlns:a16="http://schemas.microsoft.com/office/drawing/2014/main" id="{387D1EB5-F00C-1540-AE91-366E11D2D2AC}"/>
              </a:ext>
            </a:extLst>
          </p:cNvPr>
          <p:cNvSpPr/>
          <p:nvPr/>
        </p:nvSpPr>
        <p:spPr>
          <a:xfrm>
            <a:off x="5422901" y="5821584"/>
            <a:ext cx="330200" cy="203200"/>
          </a:xfrm>
          <a:prstGeom prst="rightArrow">
            <a:avLst/>
          </a:prstGeom>
          <a:solidFill>
            <a:srgbClr val="9CA3A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EDD3818-4F0C-1B45-B33D-E28874BF73C3}"/>
              </a:ext>
            </a:extLst>
          </p:cNvPr>
          <p:cNvSpPr txBox="1"/>
          <p:nvPr/>
        </p:nvSpPr>
        <p:spPr>
          <a:xfrm>
            <a:off x="6604000" y="54991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dirty="0">
                <a:solidFill>
                  <a:srgbClr val="15803D"/>
                </a:solidFill>
              </a:rPr>
              <a:t>APPLICATION TERRAIN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31763A4E-AC9A-FC4E-8E0B-8766A0D20456}"/>
              </a:ext>
            </a:extLst>
          </p:cNvPr>
          <p:cNvSpPr txBox="1"/>
          <p:nvPr/>
        </p:nvSpPr>
        <p:spPr>
          <a:xfrm>
            <a:off x="6604000" y="5727700"/>
            <a:ext cx="469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374151"/>
                </a:solidFill>
              </a:rPr>
              <a:t>Écriture et révision des scripts SQL Oracle qui accompagnent les livraisons.</a:t>
            </a:r>
          </a:p>
        </p:txBody>
      </p:sp>
    </p:spTree>
    <p:extLst>
      <p:ext uri="{BB962C8B-B14F-4D97-AF65-F5344CB8AC3E}">
        <p14:creationId xmlns:p14="http://schemas.microsoft.com/office/powerpoint/2010/main" val="2636940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20" grpId="0" animBg="1"/>
      <p:bldP spid="21" grpId="0"/>
      <p:bldP spid="22" grpId="0"/>
      <p:bldP spid="28" grpId="0" animBg="1"/>
      <p:bldP spid="29" grpId="0"/>
      <p:bldP spid="30" grpId="0"/>
      <p:bldP spid="36" grpId="0" animBg="1"/>
      <p:bldP spid="37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0701C1-32D7-F745-AE06-8BD0A316A55E}"/>
              </a:ext>
            </a:extLst>
          </p:cNvPr>
          <p:cNvSpPr/>
          <p:nvPr/>
        </p:nvSpPr>
        <p:spPr>
          <a:xfrm>
            <a:off x="762000" y="355600"/>
            <a:ext cx="63500" cy="406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2850770-30A8-D04D-825F-EBAD6ECCACCF}"/>
              </a:ext>
            </a:extLst>
          </p:cNvPr>
          <p:cNvSpPr txBox="1"/>
          <p:nvPr/>
        </p:nvSpPr>
        <p:spPr>
          <a:xfrm>
            <a:off x="9525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 b="1">
                <a:solidFill>
                  <a:srgbClr val="1F3A5F"/>
                </a:solidFill>
              </a:rPr>
              <a:t>Proposition d'amélioration et piste de mémoire M2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87DA942-DDE0-584F-B0EC-C713651F65F2}"/>
              </a:ext>
            </a:extLst>
          </p:cNvPr>
          <p:cNvSpPr txBox="1"/>
          <p:nvPr/>
        </p:nvSpPr>
        <p:spPr>
          <a:xfrm>
            <a:off x="10795000" y="381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dirty="0">
                <a:solidFill>
                  <a:srgbClr val="9CA3AF"/>
                </a:solidFill>
              </a:rPr>
              <a:t>11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40D022-2609-5047-8CC8-190B3C6B806D}"/>
              </a:ext>
            </a:extLst>
          </p:cNvPr>
          <p:cNvSpPr/>
          <p:nvPr/>
        </p:nvSpPr>
        <p:spPr>
          <a:xfrm>
            <a:off x="762000" y="889000"/>
            <a:ext cx="10668000" cy="127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C96B5E3-506D-0243-A873-629F95C3257B}"/>
              </a:ext>
            </a:extLst>
          </p:cNvPr>
          <p:cNvSpPr txBox="1"/>
          <p:nvPr/>
        </p:nvSpPr>
        <p:spPr>
          <a:xfrm>
            <a:off x="762000" y="11430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1F3A5F"/>
                </a:solidFill>
              </a:rPr>
              <a:t>Industrialiser la qualité du code sur PNM SRR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789026-9FC4-F74B-BA36-2E79ABF1C8E5}"/>
              </a:ext>
            </a:extLst>
          </p:cNvPr>
          <p:cNvSpPr/>
          <p:nvPr/>
        </p:nvSpPr>
        <p:spPr>
          <a:xfrm>
            <a:off x="762000" y="1714500"/>
            <a:ext cx="3429000" cy="4762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7D77D59-6AB4-7A43-8B89-C29A0E82925B}"/>
              </a:ext>
            </a:extLst>
          </p:cNvPr>
          <p:cNvSpPr/>
          <p:nvPr/>
        </p:nvSpPr>
        <p:spPr>
          <a:xfrm>
            <a:off x="2120900" y="2032000"/>
            <a:ext cx="711200" cy="711200"/>
          </a:xfrm>
          <a:prstGeom prst="ellipse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2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EFA29DE-7A9F-2543-AEA5-86C08540BF2F}"/>
              </a:ext>
            </a:extLst>
          </p:cNvPr>
          <p:cNvSpPr txBox="1"/>
          <p:nvPr/>
        </p:nvSpPr>
        <p:spPr>
          <a:xfrm>
            <a:off x="762000" y="29210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100" b="1" dirty="0">
                <a:solidFill>
                  <a:srgbClr val="B91C1C"/>
                </a:solidFill>
              </a:rPr>
              <a:t>CONSTAT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E987EA-DF3A-E149-AE16-7FB40D25825A}"/>
              </a:ext>
            </a:extLst>
          </p:cNvPr>
          <p:cNvSpPr/>
          <p:nvPr/>
        </p:nvSpPr>
        <p:spPr>
          <a:xfrm>
            <a:off x="2222500" y="3238500"/>
            <a:ext cx="508000" cy="254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8306B0F-D217-2447-8F15-2685D7FF0A2E}"/>
              </a:ext>
            </a:extLst>
          </p:cNvPr>
          <p:cNvSpPr txBox="1"/>
          <p:nvPr/>
        </p:nvSpPr>
        <p:spPr>
          <a:xfrm>
            <a:off x="1016000" y="3429000"/>
            <a:ext cx="2921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 dirty="0">
                <a:solidFill>
                  <a:srgbClr val="1F2937"/>
                </a:solidFill>
              </a:rPr>
              <a:t>Une dette de qualité à résorber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C97AEB5-89D5-D140-9093-8DC4EC49ECC7}"/>
              </a:ext>
            </a:extLst>
          </p:cNvPr>
          <p:cNvSpPr txBox="1"/>
          <p:nvPr/>
        </p:nvSpPr>
        <p:spPr>
          <a:xfrm>
            <a:off x="1016000" y="4191000"/>
            <a:ext cx="2921000" cy="209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fr-FR" sz="1300" dirty="0">
                <a:solidFill>
                  <a:srgbClr val="4B5563"/>
                </a:solidFill>
              </a:rPr>
              <a:t>Plusieurs centaines d'alertes </a:t>
            </a:r>
            <a:r>
              <a:rPr lang="fr-FR" sz="1300" dirty="0" err="1">
                <a:solidFill>
                  <a:srgbClr val="4B5563"/>
                </a:solidFill>
              </a:rPr>
              <a:t>SonarQube</a:t>
            </a:r>
            <a:r>
              <a:rPr lang="fr-FR" sz="1300" dirty="0">
                <a:solidFill>
                  <a:srgbClr val="4B5563"/>
                </a:solidFill>
              </a:rPr>
              <a:t> accumulées au fil des années sur l'application. La couverture des tests reste à consolider sur les modules les plus anciens.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37DB57-69E3-3B4C-AA4B-234C9E3B0AAB}"/>
              </a:ext>
            </a:extLst>
          </p:cNvPr>
          <p:cNvSpPr/>
          <p:nvPr/>
        </p:nvSpPr>
        <p:spPr>
          <a:xfrm>
            <a:off x="4381500" y="1714500"/>
            <a:ext cx="3429000" cy="4762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128CC3D-C145-4D4D-A400-517C28F10A97}"/>
              </a:ext>
            </a:extLst>
          </p:cNvPr>
          <p:cNvSpPr/>
          <p:nvPr/>
        </p:nvSpPr>
        <p:spPr>
          <a:xfrm>
            <a:off x="5740400" y="2032000"/>
            <a:ext cx="711200" cy="7112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2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3C34303-D58B-C54A-B9E8-018678B85DD6}"/>
              </a:ext>
            </a:extLst>
          </p:cNvPr>
          <p:cNvSpPr txBox="1"/>
          <p:nvPr/>
        </p:nvSpPr>
        <p:spPr>
          <a:xfrm>
            <a:off x="4381500" y="29210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100" b="1" dirty="0">
                <a:solidFill>
                  <a:srgbClr val="1F3A5F"/>
                </a:solidFill>
              </a:rPr>
              <a:t>DÉMARCHE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F423EF-1CD1-894B-8969-F585AF6C4915}"/>
              </a:ext>
            </a:extLst>
          </p:cNvPr>
          <p:cNvSpPr/>
          <p:nvPr/>
        </p:nvSpPr>
        <p:spPr>
          <a:xfrm>
            <a:off x="5842000" y="3238500"/>
            <a:ext cx="508000" cy="254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C0B6C5B-0CD4-204F-AA48-3D2351E28411}"/>
              </a:ext>
            </a:extLst>
          </p:cNvPr>
          <p:cNvSpPr txBox="1"/>
          <p:nvPr/>
        </p:nvSpPr>
        <p:spPr>
          <a:xfrm>
            <a:off x="4635500" y="3429000"/>
            <a:ext cx="2921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 dirty="0">
                <a:solidFill>
                  <a:srgbClr val="1F2937"/>
                </a:solidFill>
              </a:rPr>
              <a:t>Une porte de qualité différenciée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743E434-3AA4-E346-A532-23D28CC2AAA2}"/>
              </a:ext>
            </a:extLst>
          </p:cNvPr>
          <p:cNvSpPr txBox="1"/>
          <p:nvPr/>
        </p:nvSpPr>
        <p:spPr>
          <a:xfrm>
            <a:off x="4635500" y="4191000"/>
            <a:ext cx="2921000" cy="209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dirty="0">
                <a:solidFill>
                  <a:srgbClr val="4B5563"/>
                </a:solidFill>
              </a:rPr>
              <a:t>Bloquer toute nouvelle régression sur les fichiers modifiés (</a:t>
            </a:r>
            <a:r>
              <a:rPr lang="fr-FR" sz="1300" dirty="0" err="1">
                <a:solidFill>
                  <a:srgbClr val="4B5563"/>
                </a:solidFill>
              </a:rPr>
              <a:t>quality</a:t>
            </a:r>
            <a:r>
              <a:rPr lang="fr-FR" sz="1300" dirty="0">
                <a:solidFill>
                  <a:srgbClr val="4B5563"/>
                </a:solidFill>
              </a:rPr>
              <a:t> </a:t>
            </a:r>
            <a:r>
              <a:rPr lang="fr-FR" sz="1300" dirty="0" err="1">
                <a:solidFill>
                  <a:srgbClr val="4B5563"/>
                </a:solidFill>
              </a:rPr>
              <a:t>gate</a:t>
            </a:r>
            <a:r>
              <a:rPr lang="fr-FR" sz="1300" dirty="0">
                <a:solidFill>
                  <a:srgbClr val="4B5563"/>
                </a:solidFill>
              </a:rPr>
              <a:t> stricte). En parallèle, planifier la remédiation progressive de la dette historique, lot par lot.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B05018-E41B-E744-815B-3E9A8ABB53B1}"/>
              </a:ext>
            </a:extLst>
          </p:cNvPr>
          <p:cNvSpPr/>
          <p:nvPr/>
        </p:nvSpPr>
        <p:spPr>
          <a:xfrm>
            <a:off x="8001000" y="1714500"/>
            <a:ext cx="3429000" cy="4762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C71A1D97-5202-7947-9398-AB8504A9A8F6}"/>
              </a:ext>
            </a:extLst>
          </p:cNvPr>
          <p:cNvSpPr/>
          <p:nvPr/>
        </p:nvSpPr>
        <p:spPr>
          <a:xfrm>
            <a:off x="9359900" y="2032000"/>
            <a:ext cx="711200" cy="711200"/>
          </a:xfrm>
          <a:prstGeom prst="ellipse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2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A9DAD5F-B89F-3740-89EF-A017B53CC975}"/>
              </a:ext>
            </a:extLst>
          </p:cNvPr>
          <p:cNvSpPr txBox="1"/>
          <p:nvPr/>
        </p:nvSpPr>
        <p:spPr>
          <a:xfrm>
            <a:off x="8001000" y="29210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100" b="1" dirty="0">
                <a:solidFill>
                  <a:srgbClr val="15803D"/>
                </a:solidFill>
              </a:rPr>
              <a:t>MÉMOIRE M2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BDE9E2-981D-544F-B9C5-9F4BACF3C9D4}"/>
              </a:ext>
            </a:extLst>
          </p:cNvPr>
          <p:cNvSpPr/>
          <p:nvPr/>
        </p:nvSpPr>
        <p:spPr>
          <a:xfrm>
            <a:off x="9461500" y="3238500"/>
            <a:ext cx="508000" cy="254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8EAF6D7-BA4E-C44D-B03D-BA8CB4DBF72B}"/>
              </a:ext>
            </a:extLst>
          </p:cNvPr>
          <p:cNvSpPr txBox="1"/>
          <p:nvPr/>
        </p:nvSpPr>
        <p:spPr>
          <a:xfrm>
            <a:off x="8255000" y="3429000"/>
            <a:ext cx="2921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 dirty="0">
                <a:solidFill>
                  <a:srgbClr val="1F2937"/>
                </a:solidFill>
              </a:rPr>
              <a:t>Le sujet pressenti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35D1EAB-B704-6F47-A94D-FFB20D0228BD}"/>
              </a:ext>
            </a:extLst>
          </p:cNvPr>
          <p:cNvSpPr txBox="1"/>
          <p:nvPr/>
        </p:nvSpPr>
        <p:spPr>
          <a:xfrm>
            <a:off x="8255000" y="4191000"/>
            <a:ext cx="2921000" cy="209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dirty="0">
                <a:solidFill>
                  <a:srgbClr val="4B5563"/>
                </a:solidFill>
              </a:rPr>
              <a:t>Étudier comment industrialiser durablement la qualité du code dans une application </a:t>
            </a:r>
            <a:r>
              <a:rPr lang="fr-FR" sz="1300" dirty="0" err="1">
                <a:solidFill>
                  <a:srgbClr val="4B5563"/>
                </a:solidFill>
              </a:rPr>
              <a:t>legacy</a:t>
            </a:r>
            <a:r>
              <a:rPr lang="fr-FR" sz="1300" dirty="0">
                <a:solidFill>
                  <a:srgbClr val="4B5563"/>
                </a:solidFill>
              </a:rPr>
              <a:t>, en conciliant exigences de stabilité et accélération des livraisons.</a:t>
            </a:r>
          </a:p>
        </p:txBody>
      </p:sp>
    </p:spTree>
    <p:extLst>
      <p:ext uri="{BB962C8B-B14F-4D97-AF65-F5344CB8AC3E}">
        <p14:creationId xmlns:p14="http://schemas.microsoft.com/office/powerpoint/2010/main" val="459336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7" grpId="0"/>
      <p:bldP spid="18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F03AEB-75FE-6348-B34F-FDEDA3E37D7B}"/>
              </a:ext>
            </a:extLst>
          </p:cNvPr>
          <p:cNvSpPr/>
          <p:nvPr/>
        </p:nvSpPr>
        <p:spPr>
          <a:xfrm>
            <a:off x="762000" y="355600"/>
            <a:ext cx="63500" cy="4064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606AFC2-ECEE-4C4F-B175-135CE0206506}"/>
              </a:ext>
            </a:extLst>
          </p:cNvPr>
          <p:cNvSpPr txBox="1"/>
          <p:nvPr/>
        </p:nvSpPr>
        <p:spPr>
          <a:xfrm>
            <a:off x="9525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400" b="1" dirty="0">
                <a:solidFill>
                  <a:srgbClr val="1F3A5F"/>
                </a:solidFill>
              </a:rPr>
              <a:t>Perspectives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42A1F3D-D127-8144-925E-78606B024E2B}"/>
              </a:ext>
            </a:extLst>
          </p:cNvPr>
          <p:cNvSpPr txBox="1"/>
          <p:nvPr/>
        </p:nvSpPr>
        <p:spPr>
          <a:xfrm>
            <a:off x="10795000" y="3810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dirty="0">
                <a:solidFill>
                  <a:srgbClr val="9CA3AF"/>
                </a:solidFill>
              </a:rPr>
              <a:t>12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C81675-A572-694A-898B-D26970721438}"/>
              </a:ext>
            </a:extLst>
          </p:cNvPr>
          <p:cNvSpPr/>
          <p:nvPr/>
        </p:nvSpPr>
        <p:spPr>
          <a:xfrm>
            <a:off x="762000" y="889000"/>
            <a:ext cx="10668000" cy="1270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0AE530A-128C-0640-A31F-0620B26767B9}"/>
              </a:ext>
            </a:extLst>
          </p:cNvPr>
          <p:cNvSpPr txBox="1"/>
          <p:nvPr/>
        </p:nvSpPr>
        <p:spPr>
          <a:xfrm>
            <a:off x="762000" y="11176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i="1">
                <a:solidFill>
                  <a:srgbClr val="374151"/>
                </a:solidFill>
              </a:rPr>
              <a:t>Trois horizons pour la suite : ce qui s'achève bientôt, ce qui s'ouvre, et ce qui se dessine à plus long terme.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C4043E-1782-E841-B327-B1240139B9DE}"/>
              </a:ext>
            </a:extLst>
          </p:cNvPr>
          <p:cNvSpPr/>
          <p:nvPr/>
        </p:nvSpPr>
        <p:spPr>
          <a:xfrm>
            <a:off x="762000" y="1651000"/>
            <a:ext cx="3429000" cy="482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A75437-2698-854F-8863-551EC965F7A7}"/>
              </a:ext>
            </a:extLst>
          </p:cNvPr>
          <p:cNvSpPr/>
          <p:nvPr/>
        </p:nvSpPr>
        <p:spPr>
          <a:xfrm>
            <a:off x="762000" y="1651000"/>
            <a:ext cx="3429000" cy="762000"/>
          </a:xfrm>
          <a:prstGeom prst="rect">
            <a:avLst/>
          </a:prstGeom>
          <a:solidFill>
            <a:srgbClr val="B4530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0EE889A-12E6-1C4F-BED6-B70B1CCEF55F}"/>
              </a:ext>
            </a:extLst>
          </p:cNvPr>
          <p:cNvSpPr txBox="1"/>
          <p:nvPr/>
        </p:nvSpPr>
        <p:spPr>
          <a:xfrm>
            <a:off x="762000" y="18288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 dirty="0">
                <a:solidFill>
                  <a:srgbClr val="FFFFFF"/>
                </a:solidFill>
              </a:rPr>
              <a:t>COURT TERME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49F477D-9A17-BD48-A633-9C6EF7649A52}"/>
              </a:ext>
            </a:extLst>
          </p:cNvPr>
          <p:cNvSpPr txBox="1"/>
          <p:nvPr/>
        </p:nvSpPr>
        <p:spPr>
          <a:xfrm>
            <a:off x="762000" y="20828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i="1" dirty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18524A9-35EC-5C42-B8FA-9335CE52EA81}"/>
              </a:ext>
            </a:extLst>
          </p:cNvPr>
          <p:cNvSpPr txBox="1"/>
          <p:nvPr/>
        </p:nvSpPr>
        <p:spPr>
          <a:xfrm>
            <a:off x="1016000" y="2692400"/>
            <a:ext cx="2921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 dirty="0">
                <a:solidFill>
                  <a:srgbClr val="1F2937"/>
                </a:solidFill>
              </a:rPr>
              <a:t>Finaliser le Lot 3 et démarrer le Lot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6821A8-1DDB-4042-8206-55FCA1EEA960}"/>
              </a:ext>
            </a:extLst>
          </p:cNvPr>
          <p:cNvSpPr/>
          <p:nvPr/>
        </p:nvSpPr>
        <p:spPr>
          <a:xfrm>
            <a:off x="2222500" y="3403600"/>
            <a:ext cx="508000" cy="25400"/>
          </a:xfrm>
          <a:prstGeom prst="rect">
            <a:avLst/>
          </a:prstGeom>
          <a:solidFill>
            <a:srgbClr val="B4530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542E484-E620-A546-830B-A924F20511B0}"/>
              </a:ext>
            </a:extLst>
          </p:cNvPr>
          <p:cNvSpPr/>
          <p:nvPr/>
        </p:nvSpPr>
        <p:spPr>
          <a:xfrm>
            <a:off x="1041400" y="3733800"/>
            <a:ext cx="101600" cy="101600"/>
          </a:xfrm>
          <a:prstGeom prst="ellipse">
            <a:avLst/>
          </a:prstGeom>
          <a:solidFill>
            <a:srgbClr val="B4530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8AC8BAB-E6C9-3442-A933-5907F63B38E8}"/>
              </a:ext>
            </a:extLst>
          </p:cNvPr>
          <p:cNvSpPr txBox="1"/>
          <p:nvPr/>
        </p:nvSpPr>
        <p:spPr>
          <a:xfrm>
            <a:off x="1295400" y="3657600"/>
            <a:ext cx="2667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374151"/>
                </a:solidFill>
              </a:rPr>
              <a:t>Mise en production des échanges Kafka avec BPS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D0A36C4-E2C0-F341-AECB-90CEE4624B93}"/>
              </a:ext>
            </a:extLst>
          </p:cNvPr>
          <p:cNvSpPr/>
          <p:nvPr/>
        </p:nvSpPr>
        <p:spPr>
          <a:xfrm>
            <a:off x="1041400" y="4876800"/>
            <a:ext cx="101600" cy="101600"/>
          </a:xfrm>
          <a:prstGeom prst="ellipse">
            <a:avLst/>
          </a:prstGeom>
          <a:solidFill>
            <a:srgbClr val="B4530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95520C5-5C00-4146-8554-3C750382A739}"/>
              </a:ext>
            </a:extLst>
          </p:cNvPr>
          <p:cNvSpPr txBox="1"/>
          <p:nvPr/>
        </p:nvSpPr>
        <p:spPr>
          <a:xfrm>
            <a:off x="1295400" y="4800600"/>
            <a:ext cx="2667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374151"/>
                </a:solidFill>
              </a:rPr>
              <a:t>Rédaction et soutenance du rapport M1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3C8958-D6C9-4A42-A4DA-C699083DF727}"/>
              </a:ext>
            </a:extLst>
          </p:cNvPr>
          <p:cNvSpPr/>
          <p:nvPr/>
        </p:nvSpPr>
        <p:spPr>
          <a:xfrm>
            <a:off x="4381500" y="1651000"/>
            <a:ext cx="3429000" cy="482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0D8CDF-4383-BA45-B560-02992ED47815}"/>
              </a:ext>
            </a:extLst>
          </p:cNvPr>
          <p:cNvSpPr/>
          <p:nvPr/>
        </p:nvSpPr>
        <p:spPr>
          <a:xfrm>
            <a:off x="4381500" y="1651000"/>
            <a:ext cx="3429000" cy="7620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AEA645B-BE74-0A4A-ADFA-75851BC6773A}"/>
              </a:ext>
            </a:extLst>
          </p:cNvPr>
          <p:cNvSpPr txBox="1"/>
          <p:nvPr/>
        </p:nvSpPr>
        <p:spPr>
          <a:xfrm>
            <a:off x="4381500" y="18288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</a:rPr>
              <a:t>MOYEN TERME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B55EB36-AD2D-774B-A862-A9B0A75C94F9}"/>
              </a:ext>
            </a:extLst>
          </p:cNvPr>
          <p:cNvSpPr txBox="1"/>
          <p:nvPr/>
        </p:nvSpPr>
        <p:spPr>
          <a:xfrm>
            <a:off x="4381500" y="20828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i="1" dirty="0">
                <a:solidFill>
                  <a:srgbClr val="FFFFFF"/>
                </a:solidFill>
              </a:rPr>
              <a:t>Fin 2026 – début 2027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2B87D69-EC18-A340-9BD8-567F02033FFF}"/>
              </a:ext>
            </a:extLst>
          </p:cNvPr>
          <p:cNvSpPr txBox="1"/>
          <p:nvPr/>
        </p:nvSpPr>
        <p:spPr>
          <a:xfrm>
            <a:off x="4635500" y="2692400"/>
            <a:ext cx="2921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1F2937"/>
                </a:solidFill>
              </a:rPr>
              <a:t>Finaliser les Lots 4 et 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0D5D7D-DDF5-CD43-8DAC-782DD67D1851}"/>
              </a:ext>
            </a:extLst>
          </p:cNvPr>
          <p:cNvSpPr/>
          <p:nvPr/>
        </p:nvSpPr>
        <p:spPr>
          <a:xfrm>
            <a:off x="5842000" y="3403600"/>
            <a:ext cx="508000" cy="254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CF948608-D2B7-4346-9659-5EC3039B5562}"/>
              </a:ext>
            </a:extLst>
          </p:cNvPr>
          <p:cNvSpPr/>
          <p:nvPr/>
        </p:nvSpPr>
        <p:spPr>
          <a:xfrm>
            <a:off x="4660900" y="3733800"/>
            <a:ext cx="101600" cy="1016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26EA515-1CEF-C742-8D24-B2757888B2E9}"/>
              </a:ext>
            </a:extLst>
          </p:cNvPr>
          <p:cNvSpPr txBox="1"/>
          <p:nvPr/>
        </p:nvSpPr>
        <p:spPr>
          <a:xfrm>
            <a:off x="4914900" y="3657600"/>
            <a:ext cx="2667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374151"/>
                </a:solidFill>
              </a:rPr>
              <a:t>Kafka sur les flux du SI commercialisateur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7751351-71A2-DF45-8202-3381F2A96F6A}"/>
              </a:ext>
            </a:extLst>
          </p:cNvPr>
          <p:cNvSpPr/>
          <p:nvPr/>
        </p:nvSpPr>
        <p:spPr>
          <a:xfrm>
            <a:off x="4660900" y="4876800"/>
            <a:ext cx="101600" cy="101600"/>
          </a:xfrm>
          <a:prstGeom prst="ellipse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D1E3D7D-F5E7-DF45-B7E9-6EE2116B52DF}"/>
              </a:ext>
            </a:extLst>
          </p:cNvPr>
          <p:cNvSpPr txBox="1"/>
          <p:nvPr/>
        </p:nvSpPr>
        <p:spPr>
          <a:xfrm>
            <a:off x="4914900" y="4800600"/>
            <a:ext cx="2667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374151"/>
                </a:solidFill>
              </a:rPr>
              <a:t>Nettoyage final et clôture du périmètre PNM SRR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9A94B5-9AA4-874D-B20D-D9C33C7D3028}"/>
              </a:ext>
            </a:extLst>
          </p:cNvPr>
          <p:cNvSpPr/>
          <p:nvPr/>
        </p:nvSpPr>
        <p:spPr>
          <a:xfrm>
            <a:off x="8001000" y="1651000"/>
            <a:ext cx="3429000" cy="482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10B1B7-2497-794B-B599-2A6446BCC497}"/>
              </a:ext>
            </a:extLst>
          </p:cNvPr>
          <p:cNvSpPr/>
          <p:nvPr/>
        </p:nvSpPr>
        <p:spPr>
          <a:xfrm>
            <a:off x="8001000" y="1651000"/>
            <a:ext cx="3429000" cy="762000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AF49673-6029-F844-AF56-4A11AFAC25A9}"/>
              </a:ext>
            </a:extLst>
          </p:cNvPr>
          <p:cNvSpPr txBox="1"/>
          <p:nvPr/>
        </p:nvSpPr>
        <p:spPr>
          <a:xfrm>
            <a:off x="8001000" y="18288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 dirty="0">
                <a:solidFill>
                  <a:srgbClr val="FFFFFF"/>
                </a:solidFill>
              </a:rPr>
              <a:t>LONG TERME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AB1ABB38-CAFF-D443-9435-D7C327A4B8EA}"/>
              </a:ext>
            </a:extLst>
          </p:cNvPr>
          <p:cNvSpPr txBox="1"/>
          <p:nvPr/>
        </p:nvSpPr>
        <p:spPr>
          <a:xfrm>
            <a:off x="8001000" y="20828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i="1" dirty="0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15E9215-AC97-1944-ACA0-30E86BD5B8CC}"/>
              </a:ext>
            </a:extLst>
          </p:cNvPr>
          <p:cNvSpPr txBox="1"/>
          <p:nvPr/>
        </p:nvSpPr>
        <p:spPr>
          <a:xfrm>
            <a:off x="8255000" y="2692400"/>
            <a:ext cx="2921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 dirty="0">
                <a:solidFill>
                  <a:srgbClr val="1F2937"/>
                </a:solidFill>
              </a:rPr>
              <a:t>Élargir et capitaliser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6C9CE1-EA8C-3247-AC76-7220513A251F}"/>
              </a:ext>
            </a:extLst>
          </p:cNvPr>
          <p:cNvSpPr/>
          <p:nvPr/>
        </p:nvSpPr>
        <p:spPr>
          <a:xfrm>
            <a:off x="9461500" y="3403600"/>
            <a:ext cx="508000" cy="25400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4C102A76-7267-B94F-A2D0-D62C66BCBA69}"/>
              </a:ext>
            </a:extLst>
          </p:cNvPr>
          <p:cNvSpPr/>
          <p:nvPr/>
        </p:nvSpPr>
        <p:spPr>
          <a:xfrm>
            <a:off x="8280400" y="3733800"/>
            <a:ext cx="101600" cy="101600"/>
          </a:xfrm>
          <a:prstGeom prst="ellipse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58CE2F4-0649-FC43-9680-AFB93A21C0D3}"/>
              </a:ext>
            </a:extLst>
          </p:cNvPr>
          <p:cNvSpPr txBox="1"/>
          <p:nvPr/>
        </p:nvSpPr>
        <p:spPr>
          <a:xfrm>
            <a:off x="8534400" y="3657600"/>
            <a:ext cx="2667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374151"/>
                </a:solidFill>
              </a:rPr>
              <a:t>Étendre la démarche à l'application PNM OPE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FE06A7CB-8760-D845-B5B8-0C5CBA752947}"/>
              </a:ext>
            </a:extLst>
          </p:cNvPr>
          <p:cNvSpPr/>
          <p:nvPr/>
        </p:nvSpPr>
        <p:spPr>
          <a:xfrm>
            <a:off x="8280400" y="4876800"/>
            <a:ext cx="101600" cy="101600"/>
          </a:xfrm>
          <a:prstGeom prst="ellipse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201A4DA-8A5B-CC47-9CC0-3C5D0E433056}"/>
              </a:ext>
            </a:extLst>
          </p:cNvPr>
          <p:cNvSpPr txBox="1"/>
          <p:nvPr/>
        </p:nvSpPr>
        <p:spPr>
          <a:xfrm>
            <a:off x="8534400" y="4800600"/>
            <a:ext cx="2667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374151"/>
                </a:solidFill>
              </a:rPr>
              <a:t>Mémoire M2 sur l'industrialisation de la qualité</a:t>
            </a:r>
          </a:p>
        </p:txBody>
      </p:sp>
    </p:spTree>
    <p:extLst>
      <p:ext uri="{BB962C8B-B14F-4D97-AF65-F5344CB8AC3E}">
        <p14:creationId xmlns:p14="http://schemas.microsoft.com/office/powerpoint/2010/main" val="1139659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 animBg="1"/>
      <p:bldP spid="16" grpId="0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 animBg="1"/>
      <p:bldP spid="29" grpId="0"/>
      <p:bldP spid="30" grpId="0"/>
      <p:bldP spid="31" grpId="0"/>
      <p:bldP spid="32" grpId="0" animBg="1"/>
      <p:bldP spid="33" grpId="0" animBg="1"/>
      <p:bldP spid="34" grpId="0"/>
      <p:bldP spid="35" grpId="0" animBg="1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A8EB1C-68E3-144D-9E61-DD7BCBFA44D4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F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A34E99-6460-494E-8A36-71F1B0293D5F}"/>
              </a:ext>
            </a:extLst>
          </p:cNvPr>
          <p:cNvSpPr/>
          <p:nvPr/>
        </p:nvSpPr>
        <p:spPr>
          <a:xfrm>
            <a:off x="5588000" y="2159000"/>
            <a:ext cx="1016000" cy="50800"/>
          </a:xfrm>
          <a:prstGeom prst="rect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13FD2F2-9A2D-094D-89C5-817187B2E7AD}"/>
              </a:ext>
            </a:extLst>
          </p:cNvPr>
          <p:cNvSpPr txBox="1"/>
          <p:nvPr/>
        </p:nvSpPr>
        <p:spPr>
          <a:xfrm>
            <a:off x="762000" y="2476500"/>
            <a:ext cx="1066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400" b="1" dirty="0">
                <a:solidFill>
                  <a:srgbClr val="1F3A5F"/>
                </a:solidFill>
              </a:rPr>
              <a:t>Merci pour votre attention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A22B19B-9955-0D47-ABD6-C5C3EF7EB5EB}"/>
              </a:ext>
            </a:extLst>
          </p:cNvPr>
          <p:cNvSpPr txBox="1"/>
          <p:nvPr/>
        </p:nvSpPr>
        <p:spPr>
          <a:xfrm>
            <a:off x="762000" y="34290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i="1">
                <a:solidFill>
                  <a:srgbClr val="6B7280"/>
                </a:solidFill>
              </a:rPr>
              <a:t>Place à vos questions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8B1A7A-075E-5348-A46B-A060067D53CC}"/>
              </a:ext>
            </a:extLst>
          </p:cNvPr>
          <p:cNvSpPr/>
          <p:nvPr/>
        </p:nvSpPr>
        <p:spPr>
          <a:xfrm>
            <a:off x="4826000" y="4445000"/>
            <a:ext cx="2540000" cy="12700"/>
          </a:xfrm>
          <a:prstGeom prst="rect">
            <a:avLst/>
          </a:prstGeom>
          <a:solidFill>
            <a:srgbClr val="D1D5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3A4426B-CABF-AC44-BE8A-D8525B9BFE43}"/>
              </a:ext>
            </a:extLst>
          </p:cNvPr>
          <p:cNvSpPr txBox="1"/>
          <p:nvPr/>
        </p:nvSpPr>
        <p:spPr>
          <a:xfrm>
            <a:off x="762000" y="4826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b="1">
                <a:solidFill>
                  <a:srgbClr val="1F2937"/>
                </a:solidFill>
              </a:rPr>
              <a:t>Souleimane EL QODSI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61A616A-0B53-5048-8E7D-F9A7A4C294CE}"/>
              </a:ext>
            </a:extLst>
          </p:cNvPr>
          <p:cNvSpPr txBox="1"/>
          <p:nvPr/>
        </p:nvSpPr>
        <p:spPr>
          <a:xfrm>
            <a:off x="762000" y="52705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4B5563"/>
                </a:solidFill>
              </a:rPr>
              <a:t>Master 1 MIAGE — Informatique Décisionnelle  ·  Université Paris-Saclay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55F92AA-EA34-A141-8D5B-27EA648C260D}"/>
              </a:ext>
            </a:extLst>
          </p:cNvPr>
          <p:cNvSpPr txBox="1"/>
          <p:nvPr/>
        </p:nvSpPr>
        <p:spPr>
          <a:xfrm>
            <a:off x="762000" y="56134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dirty="0">
                <a:solidFill>
                  <a:srgbClr val="6B7280"/>
                </a:solidFill>
              </a:rPr>
              <a:t>souleimane.e@proton.me</a:t>
            </a:r>
            <a:br>
              <a:rPr lang="fr-FR" sz="1300" dirty="0">
                <a:solidFill>
                  <a:srgbClr val="6B7280"/>
                </a:solidFill>
              </a:rPr>
            </a:br>
            <a:r>
              <a:rPr lang="fr-FR" sz="1300" dirty="0">
                <a:solidFill>
                  <a:srgbClr val="6B7280"/>
                </a:solidFill>
              </a:rPr>
              <a:t>souleimane.elqodsi@sfr.com</a:t>
            </a:r>
          </a:p>
        </p:txBody>
      </p:sp>
    </p:spTree>
    <p:extLst>
      <p:ext uri="{BB962C8B-B14F-4D97-AF65-F5344CB8AC3E}">
        <p14:creationId xmlns:p14="http://schemas.microsoft.com/office/powerpoint/2010/main" val="4217818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 [1778981419730]">
  <a:themeElements>
    <a:clrScheme name="Office">
      <a:dk1>
        <a:srgbClr val="1F2937"/>
      </a:dk1>
      <a:lt1>
        <a:srgbClr val="FFFFFF"/>
      </a:lt1>
      <a:dk2>
        <a:srgbClr val="1F3A5F"/>
      </a:dk2>
      <a:lt2>
        <a:srgbClr val="F3F4F6"/>
      </a:lt2>
      <a:accent1>
        <a:srgbClr val="1F3A5F"/>
      </a:accent1>
      <a:accent2>
        <a:srgbClr val="B91C1C"/>
      </a:accent2>
      <a:accent3>
        <a:srgbClr val="6B7280"/>
      </a:accent3>
      <a:accent4>
        <a:srgbClr val="0E7490"/>
      </a:accent4>
      <a:accent5>
        <a:srgbClr val="92400E"/>
      </a:accent5>
      <a:accent6>
        <a:srgbClr val="374151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EB314AB-554C-9540-8C81-B1A34AA6C24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3e235ef-67c2-4094-b0b8-84c6477f793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1938</TotalTime>
  <Words>1311</Words>
  <Application>Microsoft Macintosh PowerPoint</Application>
  <PresentationFormat>Grand écran</PresentationFormat>
  <Paragraphs>208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Thème Office [1778981419730]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Souleimane El Qodsi</dc:creator>
  <cp:lastModifiedBy>Souleimane El Qodsi</cp:lastModifiedBy>
  <cp:revision>9</cp:revision>
  <dcterms:created xsi:type="dcterms:W3CDTF">2026-05-16T18:48:33Z</dcterms:created>
  <dcterms:modified xsi:type="dcterms:W3CDTF">2026-05-20T08:09:54Z</dcterms:modified>
</cp:coreProperties>
</file>